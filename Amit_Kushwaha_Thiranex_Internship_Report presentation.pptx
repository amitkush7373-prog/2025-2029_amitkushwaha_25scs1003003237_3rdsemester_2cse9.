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1.png"/><Relationship Id="rId5" Type="http://schemas.openxmlformats.org/officeDocument/2006/relationships/image" Target="../media/image-9-1.png"/><Relationship Id="rId6" Type="http://schemas.openxmlformats.org/officeDocument/2006/relationships/image" Target="../media/image-9-1.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image" Target="../media/image-13-1.png"/><Relationship Id="rId5" Type="http://schemas.openxmlformats.org/officeDocument/2006/relationships/image" Target="../media/image-13-1.png"/><Relationship Id="rId6" Type="http://schemas.openxmlformats.org/officeDocument/2006/relationships/image" Target="../media/image-13-1.png"/><Relationship Id="rId7" Type="http://schemas.openxmlformats.org/officeDocument/2006/relationships/image" Target="../media/image-13-1.png"/><Relationship Id="rId8" Type="http://schemas.openxmlformats.org/officeDocument/2006/relationships/image" Target="../media/image-13-1.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Shape 1"/>
          <p:cNvSpPr/>
          <p:nvPr/>
        </p:nvSpPr>
        <p:spPr>
          <a:xfrm>
            <a:off x="8961120" y="-2011680"/>
            <a:ext cx="5486400" cy="5486400"/>
          </a:xfrm>
          <a:prstGeom prst="ellipse">
            <a:avLst/>
          </a:prstGeom>
          <a:solidFill>
            <a:srgbClr val="141B4D"/>
          </a:solidFill>
          <a:ln/>
        </p:spPr>
      </p:sp>
      <p:sp>
        <p:nvSpPr>
          <p:cNvPr id="4" name="Shape 2"/>
          <p:cNvSpPr/>
          <p:nvPr/>
        </p:nvSpPr>
        <p:spPr>
          <a:xfrm>
            <a:off x="-2194560" y="4206240"/>
            <a:ext cx="5029200" cy="5029200"/>
          </a:xfrm>
          <a:prstGeom prst="ellipse">
            <a:avLst/>
          </a:prstGeom>
          <a:solidFill>
            <a:srgbClr val="141B4D"/>
          </a:solidFill>
          <a:ln/>
        </p:spPr>
      </p:sp>
      <p:pic>
        <p:nvPicPr>
          <p:cNvPr id="5" name="Image 0" descr="icon_data.png">    </p:cNvPr>
          <p:cNvPicPr>
            <a:picLocks noChangeAspect="1"/>
          </p:cNvPicPr>
          <p:nvPr/>
        </p:nvPicPr>
        <p:blipFill>
          <a:blip r:embed="rId1"/>
          <a:stretch>
            <a:fillRect/>
          </a:stretch>
        </p:blipFill>
        <p:spPr>
          <a:xfrm>
            <a:off x="822960" y="640080"/>
            <a:ext cx="777240" cy="777240"/>
          </a:xfrm>
          <a:prstGeom prst="rect">
            <a:avLst/>
          </a:prstGeom>
        </p:spPr>
      </p:pic>
      <p:sp>
        <p:nvSpPr>
          <p:cNvPr id="6" name="Text 3"/>
          <p:cNvSpPr/>
          <p:nvPr/>
        </p:nvSpPr>
        <p:spPr>
          <a:xfrm>
            <a:off x="822960" y="2331720"/>
            <a:ext cx="9875520" cy="457200"/>
          </a:xfrm>
          <a:prstGeom prst="rect">
            <a:avLst/>
          </a:prstGeom>
          <a:noFill/>
          <a:ln/>
        </p:spPr>
        <p:txBody>
          <a:bodyPr wrap="square" rtlCol="0" anchor="ctr"/>
          <a:lstStyle/>
          <a:p>
            <a:pPr indent="0" marL="0">
              <a:buNone/>
            </a:pPr>
            <a:r>
              <a:rPr lang="en-US" sz="1500" b="1" spc="300" kern="0" dirty="0">
                <a:solidFill>
                  <a:srgbClr val="C9A24B"/>
                </a:solidFill>
                <a:latin typeface="Calibri" pitchFamily="34" charset="0"/>
                <a:ea typeface="Calibri" pitchFamily="34" charset="-122"/>
                <a:cs typeface="Calibri" pitchFamily="34" charset="-120"/>
              </a:rPr>
              <a:t>DATA ANALYTICS INTERNSHIP REPORT</a:t>
            </a:r>
            <a:endParaRPr lang="en-US" sz="1500" dirty="0"/>
          </a:p>
        </p:txBody>
      </p:sp>
      <p:sp>
        <p:nvSpPr>
          <p:cNvPr id="7" name="Text 4"/>
          <p:cNvSpPr/>
          <p:nvPr/>
        </p:nvSpPr>
        <p:spPr>
          <a:xfrm>
            <a:off x="822960" y="2788920"/>
            <a:ext cx="9692640" cy="1371600"/>
          </a:xfrm>
          <a:prstGeom prst="rect">
            <a:avLst/>
          </a:prstGeom>
          <a:noFill/>
          <a:ln/>
        </p:spPr>
        <p:txBody>
          <a:bodyPr wrap="square" rtlCol="0" anchor="ctr"/>
          <a:lstStyle/>
          <a:p>
            <a:pPr indent="0" marL="0">
              <a:lnSpc>
                <a:spcPct val="108000"/>
              </a:lnSpc>
              <a:buNone/>
            </a:pPr>
            <a:r>
              <a:rPr lang="en-US" sz="3400" b="1" dirty="0">
                <a:solidFill>
                  <a:srgbClr val="FFFFFF"/>
                </a:solidFill>
                <a:latin typeface="Cambria" pitchFamily="34" charset="0"/>
                <a:ea typeface="Cambria" pitchFamily="34" charset="-122"/>
                <a:cs typeface="Cambria" pitchFamily="34" charset="-120"/>
              </a:rPr>
              <a:t>Sales Dashboards, Customer Segmentation,</a:t>
            </a:r>
            <a:endParaRPr lang="en-US" sz="3400" dirty="0"/>
          </a:p>
          <a:p>
            <a:pPr indent="0" marL="0">
              <a:lnSpc>
                <a:spcPct val="108000"/>
              </a:lnSpc>
              <a:buNone/>
            </a:pPr>
            <a:r>
              <a:rPr lang="en-US" sz="3400" b="1" dirty="0">
                <a:solidFill>
                  <a:srgbClr val="FFFFFF"/>
                </a:solidFill>
                <a:latin typeface="Cambria" pitchFamily="34" charset="0"/>
                <a:ea typeface="Cambria" pitchFamily="34" charset="-122"/>
                <a:cs typeface="Cambria" pitchFamily="34" charset="-120"/>
              </a:rPr>
              <a:t>Predictive Analytics &amp; Reporting Automation</a:t>
            </a:r>
            <a:endParaRPr lang="en-US" sz="3400" dirty="0"/>
          </a:p>
        </p:txBody>
      </p:sp>
      <p:sp>
        <p:nvSpPr>
          <p:cNvPr id="8" name="Shape 5"/>
          <p:cNvSpPr/>
          <p:nvPr/>
        </p:nvSpPr>
        <p:spPr>
          <a:xfrm>
            <a:off x="841248" y="4343400"/>
            <a:ext cx="2194560" cy="0"/>
          </a:xfrm>
          <a:prstGeom prst="line">
            <a:avLst/>
          </a:prstGeom>
          <a:noFill/>
          <a:ln w="31750">
            <a:solidFill>
              <a:srgbClr val="C9A24B"/>
            </a:solidFill>
            <a:prstDash val="solid"/>
          </a:ln>
        </p:spPr>
      </p:sp>
      <p:sp>
        <p:nvSpPr>
          <p:cNvPr id="9" name="Text 6"/>
          <p:cNvSpPr/>
          <p:nvPr/>
        </p:nvSpPr>
        <p:spPr>
          <a:xfrm>
            <a:off x="841248" y="4617720"/>
            <a:ext cx="100584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Amit Kushwaha</a:t>
            </a:r>
            <a:pPr indent="0" marL="0">
              <a:buNone/>
            </a:pPr>
            <a:r>
              <a:rPr lang="en-US" sz="1300" dirty="0">
                <a:solidFill>
                  <a:srgbClr val="CADCFC"/>
                </a:solidFill>
                <a:latin typeface="Calibri" pitchFamily="34" charset="0"/>
                <a:ea typeface="Calibri" pitchFamily="34" charset="-122"/>
                <a:cs typeface="Calibri" pitchFamily="34" charset="-120"/>
              </a:rPr>
              <a:t>   |   B.Tech CSE, IILM University, Greater Noida   |   Batch 2026-27</a:t>
            </a:r>
            <a:endParaRPr lang="en-US" sz="1700" dirty="0"/>
          </a:p>
        </p:txBody>
      </p:sp>
      <p:sp>
        <p:nvSpPr>
          <p:cNvPr id="10" name="Text 7"/>
          <p:cNvSpPr/>
          <p:nvPr/>
        </p:nvSpPr>
        <p:spPr>
          <a:xfrm>
            <a:off x="841248" y="5029200"/>
            <a:ext cx="10058400" cy="36576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Organization: Thiranex   •   Role: Intern – Data Analytics   •   26 Aug – 25 Sept 2026</a:t>
            </a:r>
            <a:endParaRPr lang="en-US" sz="1250" dirty="0"/>
          </a:p>
        </p:txBody>
      </p:sp>
      <p:sp>
        <p:nvSpPr>
          <p:cNvPr id="11" name="Text 8"/>
          <p:cNvSpPr/>
          <p:nvPr/>
        </p:nvSpPr>
        <p:spPr>
          <a:xfrm>
            <a:off x="841248" y="5989320"/>
            <a:ext cx="9144000" cy="640080"/>
          </a:xfrm>
          <a:prstGeom prst="rect">
            <a:avLst/>
          </a:prstGeom>
          <a:noFill/>
          <a:ln/>
        </p:spPr>
        <p:txBody>
          <a:bodyPr wrap="square" rtlCol="0" anchor="ctr"/>
          <a:lstStyle/>
          <a:p>
            <a:pPr indent="0" marL="0">
              <a:lnSpc>
                <a:spcPct val="115000"/>
              </a:lnSpc>
              <a:buNone/>
            </a:pPr>
            <a:r>
              <a:rPr lang="en-US" sz="1100" i="1" dirty="0">
                <a:solidFill>
                  <a:srgbClr val="9AAEE8"/>
                </a:solidFill>
                <a:latin typeface="Calibri" pitchFamily="34" charset="0"/>
                <a:ea typeface="Calibri" pitchFamily="34" charset="-122"/>
                <a:cs typeface="Calibri" pitchFamily="34" charset="-120"/>
              </a:rPr>
              <a:t>Submitted to the School of Computer Science and Engineering, IILM University</a:t>
            </a:r>
            <a:endParaRPr lang="en-US" sz="1100" dirty="0"/>
          </a:p>
          <a:p>
            <a:pPr indent="0" marL="0">
              <a:lnSpc>
                <a:spcPct val="115000"/>
              </a:lnSpc>
              <a:buNone/>
            </a:pPr>
            <a:r>
              <a:rPr lang="en-US" sz="1100" i="1" dirty="0">
                <a:solidFill>
                  <a:srgbClr val="9AAEE8"/>
                </a:solidFill>
                <a:latin typeface="Calibri" pitchFamily="34" charset="0"/>
                <a:ea typeface="Calibri" pitchFamily="34" charset="-122"/>
                <a:cs typeface="Calibri" pitchFamily="34" charset="-120"/>
              </a:rPr>
              <a:t>in partial fulfilment of the requirement for the degree of B.Tech CSE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1–2</a:t>
            </a:r>
            <a:endParaRPr lang="en-US" sz="1300" dirty="0"/>
          </a:p>
        </p:txBody>
      </p:sp>
      <p:sp>
        <p:nvSpPr>
          <p:cNvPr id="3" name="Text 1"/>
          <p:cNvSpPr/>
          <p:nvPr/>
        </p:nvSpPr>
        <p:spPr>
          <a:xfrm>
            <a:off x="640080" y="713232"/>
            <a:ext cx="1051560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Declaration &amp; Acknowledgement</a:t>
            </a:r>
            <a:endParaRPr lang="en-US" sz="3000" dirty="0"/>
          </a:p>
        </p:txBody>
      </p:sp>
      <p:sp>
        <p:nvSpPr>
          <p:cNvPr id="4" name="Shape 2"/>
          <p:cNvSpPr/>
          <p:nvPr/>
        </p:nvSpPr>
        <p:spPr>
          <a:xfrm>
            <a:off x="640080" y="1600200"/>
            <a:ext cx="5212080" cy="4480560"/>
          </a:xfrm>
          <a:prstGeom prst="roundRect">
            <a:avLst>
              <a:gd name="adj" fmla="val 2449"/>
            </a:avLst>
          </a:prstGeom>
          <a:solidFill>
            <a:srgbClr val="F4F6FB"/>
          </a:solidFill>
          <a:ln/>
        </p:spPr>
      </p:sp>
      <p:pic>
        <p:nvPicPr>
          <p:cNvPr id="5" name="Image 0" descr="icon_grad.png">    </p:cNvPr>
          <p:cNvPicPr>
            <a:picLocks noChangeAspect="1"/>
          </p:cNvPicPr>
          <p:nvPr/>
        </p:nvPicPr>
        <p:blipFill>
          <a:blip r:embed="rId1"/>
          <a:stretch>
            <a:fillRect/>
          </a:stretch>
        </p:blipFill>
        <p:spPr>
          <a:xfrm>
            <a:off x="914400" y="1874520"/>
            <a:ext cx="502920" cy="502920"/>
          </a:xfrm>
          <a:prstGeom prst="rect">
            <a:avLst/>
          </a:prstGeom>
        </p:spPr>
      </p:pic>
      <p:sp>
        <p:nvSpPr>
          <p:cNvPr id="6" name="Text 3"/>
          <p:cNvSpPr/>
          <p:nvPr/>
        </p:nvSpPr>
        <p:spPr>
          <a:xfrm>
            <a:off x="1554480" y="1920240"/>
            <a:ext cx="402336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Candidate's Declaration</a:t>
            </a:r>
            <a:endParaRPr lang="en-US" sz="1600" dirty="0"/>
          </a:p>
        </p:txBody>
      </p:sp>
      <p:sp>
        <p:nvSpPr>
          <p:cNvPr id="7" name="Text 4"/>
          <p:cNvSpPr/>
          <p:nvPr/>
        </p:nvSpPr>
        <p:spPr>
          <a:xfrm>
            <a:off x="914400" y="2514600"/>
            <a:ext cx="4617720" cy="1554480"/>
          </a:xfrm>
          <a:prstGeom prst="rect">
            <a:avLst/>
          </a:prstGeom>
          <a:noFill/>
          <a:ln/>
        </p:spPr>
        <p:txBody>
          <a:bodyPr wrap="square" rtlCol="0" anchor="t"/>
          <a:lstStyle/>
          <a:p>
            <a:pPr indent="0" marL="0">
              <a:lnSpc>
                <a:spcPct val="125000"/>
              </a:lnSpc>
              <a:buNone/>
            </a:pPr>
            <a:r>
              <a:rPr lang="en-US" sz="1200" dirty="0">
                <a:solidFill>
                  <a:srgbClr val="22273A"/>
                </a:solidFill>
                <a:latin typeface="Calibri" pitchFamily="34" charset="0"/>
                <a:ea typeface="Calibri" pitchFamily="34" charset="-122"/>
                <a:cs typeface="Calibri" pitchFamily="34" charset="-120"/>
              </a:rPr>
              <a:t>I, Amit Kushwaha, declare that this internship report on Data Analytics has been completed by me to fulfil the requirement for the degree of B.Tech in CSE. All references have been duly quoted, and the report is entirely my own original work.</a:t>
            </a:r>
            <a:endParaRPr lang="en-US" sz="1200" dirty="0"/>
          </a:p>
        </p:txBody>
      </p:sp>
      <p:sp>
        <p:nvSpPr>
          <p:cNvPr id="8" name="Shape 5"/>
          <p:cNvSpPr/>
          <p:nvPr/>
        </p:nvSpPr>
        <p:spPr>
          <a:xfrm>
            <a:off x="914400" y="4160520"/>
            <a:ext cx="4617720" cy="0"/>
          </a:xfrm>
          <a:prstGeom prst="line">
            <a:avLst/>
          </a:prstGeom>
          <a:noFill/>
          <a:ln w="12700">
            <a:solidFill>
              <a:srgbClr val="D5DBE8"/>
            </a:solidFill>
            <a:prstDash val="solid"/>
          </a:ln>
        </p:spPr>
      </p:sp>
      <p:sp>
        <p:nvSpPr>
          <p:cNvPr id="9" name="Text 6"/>
          <p:cNvSpPr/>
          <p:nvPr/>
        </p:nvSpPr>
        <p:spPr>
          <a:xfrm>
            <a:off x="914400" y="4297680"/>
            <a:ext cx="4617720" cy="1463040"/>
          </a:xfrm>
          <a:prstGeom prst="rect">
            <a:avLst/>
          </a:prstGeom>
          <a:noFill/>
          <a:ln/>
        </p:spPr>
        <p:txBody>
          <a:bodyPr wrap="square" rtlCol="0" anchor="ctr"/>
          <a:lstStyle/>
          <a:p>
            <a:pPr indent="0" marL="0">
              <a:lnSpc>
                <a:spcPct val="150000"/>
              </a:lnSpc>
              <a:buNone/>
            </a:pPr>
            <a:r>
              <a:rPr lang="en-US" sz="1150" dirty="0">
                <a:solidFill>
                  <a:srgbClr val="6B7280"/>
                </a:solidFill>
                <a:latin typeface="Calibri" pitchFamily="34" charset="0"/>
                <a:ea typeface="Calibri" pitchFamily="34" charset="-122"/>
                <a:cs typeface="Calibri" pitchFamily="34" charset="-120"/>
              </a:rPr>
              <a:t>Signature: ______________________</a:t>
            </a:r>
            <a:endParaRPr lang="en-US" sz="1150" dirty="0"/>
          </a:p>
          <a:p>
            <a:pPr indent="0" marL="0">
              <a:lnSpc>
                <a:spcPct val="150000"/>
              </a:lnSpc>
              <a:buNone/>
            </a:pPr>
            <a:r>
              <a:rPr lang="en-US" sz="1150" dirty="0">
                <a:solidFill>
                  <a:srgbClr val="6B7280"/>
                </a:solidFill>
                <a:latin typeface="Calibri" pitchFamily="34" charset="0"/>
                <a:ea typeface="Calibri" pitchFamily="34" charset="-122"/>
                <a:cs typeface="Calibri" pitchFamily="34" charset="-120"/>
              </a:rPr>
              <a:t>Student Name: AMIT KUSHWAHA</a:t>
            </a:r>
            <a:endParaRPr lang="en-US" sz="1150" dirty="0"/>
          </a:p>
          <a:p>
            <a:pPr indent="0" marL="0">
              <a:lnSpc>
                <a:spcPct val="150000"/>
              </a:lnSpc>
              <a:buNone/>
            </a:pPr>
            <a:r>
              <a:rPr lang="en-US" sz="1150" dirty="0">
                <a:solidFill>
                  <a:srgbClr val="6B7280"/>
                </a:solidFill>
                <a:latin typeface="Calibri" pitchFamily="34" charset="0"/>
                <a:ea typeface="Calibri" pitchFamily="34" charset="-122"/>
                <a:cs typeface="Calibri" pitchFamily="34" charset="-120"/>
              </a:rPr>
              <a:t>Roll No.: ______________________</a:t>
            </a:r>
            <a:endParaRPr lang="en-US" sz="1150" dirty="0"/>
          </a:p>
        </p:txBody>
      </p:sp>
      <p:sp>
        <p:nvSpPr>
          <p:cNvPr id="10" name="Shape 7"/>
          <p:cNvSpPr/>
          <p:nvPr/>
        </p:nvSpPr>
        <p:spPr>
          <a:xfrm>
            <a:off x="6126480" y="1600200"/>
            <a:ext cx="5440680" cy="4480560"/>
          </a:xfrm>
          <a:prstGeom prst="roundRect">
            <a:avLst>
              <a:gd name="adj" fmla="val 2449"/>
            </a:avLst>
          </a:prstGeom>
          <a:solidFill>
            <a:srgbClr val="F4F6FB"/>
          </a:solidFill>
          <a:ln/>
        </p:spPr>
      </p:sp>
      <p:pic>
        <p:nvPicPr>
          <p:cNvPr id="11" name="Image 1" descr="icon_outcomes.png">    </p:cNvPr>
          <p:cNvPicPr>
            <a:picLocks noChangeAspect="1"/>
          </p:cNvPicPr>
          <p:nvPr/>
        </p:nvPicPr>
        <p:blipFill>
          <a:blip r:embed="rId2"/>
          <a:stretch>
            <a:fillRect/>
          </a:stretch>
        </p:blipFill>
        <p:spPr>
          <a:xfrm>
            <a:off x="6400800" y="1874520"/>
            <a:ext cx="502920" cy="502920"/>
          </a:xfrm>
          <a:prstGeom prst="rect">
            <a:avLst/>
          </a:prstGeom>
        </p:spPr>
      </p:pic>
      <p:sp>
        <p:nvSpPr>
          <p:cNvPr id="12" name="Text 8"/>
          <p:cNvSpPr/>
          <p:nvPr/>
        </p:nvSpPr>
        <p:spPr>
          <a:xfrm>
            <a:off x="7040880" y="1920240"/>
            <a:ext cx="402336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Acknowledgement</a:t>
            </a:r>
            <a:endParaRPr lang="en-US" sz="1600" dirty="0"/>
          </a:p>
        </p:txBody>
      </p:sp>
      <p:sp>
        <p:nvSpPr>
          <p:cNvPr id="13" name="Text 9"/>
          <p:cNvSpPr/>
          <p:nvPr/>
        </p:nvSpPr>
        <p:spPr>
          <a:xfrm>
            <a:off x="6400800" y="2514600"/>
            <a:ext cx="4846320" cy="3291840"/>
          </a:xfrm>
          <a:prstGeom prst="rect">
            <a:avLst/>
          </a:prstGeom>
          <a:noFill/>
          <a:ln/>
        </p:spPr>
        <p:txBody>
          <a:bodyPr wrap="square" rtlCol="0" anchor="t"/>
          <a:lstStyle/>
          <a:p>
            <a:pPr indent="0" marL="0">
              <a:lnSpc>
                <a:spcPct val="130000"/>
              </a:lnSpc>
              <a:buNone/>
            </a:pPr>
            <a:r>
              <a:rPr lang="en-US" sz="1200" dirty="0">
                <a:solidFill>
                  <a:srgbClr val="22273A"/>
                </a:solidFill>
                <a:latin typeface="Calibri" pitchFamily="34" charset="0"/>
                <a:ea typeface="Calibri" pitchFamily="34" charset="-122"/>
                <a:cs typeface="Calibri" pitchFamily="34" charset="-120"/>
              </a:rPr>
              <a:t>Sincere gratitude to Thiranex for the opportunity to undertake this Data Analytics internship, and for the guidance, resources and feedback provided throughout. Thanks also to the faculty of the School of CSE, IILM University, for their academic support, and to my parents for their constant encouragement.</a:t>
            </a:r>
            <a:endParaRPr lang="en-US" sz="1200" dirty="0"/>
          </a:p>
        </p:txBody>
      </p:sp>
      <p:sp>
        <p:nvSpPr>
          <p:cNvPr id="14" name="Text 10"/>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Thiranex Data Analytics Internship  •  Amit Kushwaha</a:t>
            </a:r>
            <a:endParaRPr lang="en-US" sz="900" dirty="0"/>
          </a:p>
        </p:txBody>
      </p:sp>
      <p:sp>
        <p:nvSpPr>
          <p:cNvPr id="15" name="Text 1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3</a:t>
            </a:r>
            <a:endParaRPr lang="en-US" sz="1300" dirty="0"/>
          </a:p>
        </p:txBody>
      </p:sp>
      <p:sp>
        <p:nvSpPr>
          <p:cNvPr id="3" name="Text 1"/>
          <p:cNvSpPr/>
          <p:nvPr/>
        </p:nvSpPr>
        <p:spPr>
          <a:xfrm>
            <a:off x="640080" y="713232"/>
            <a:ext cx="1051560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Certificate &amp; Offer Letter</a:t>
            </a:r>
            <a:endParaRPr lang="en-US" sz="3000" dirty="0"/>
          </a:p>
        </p:txBody>
      </p:sp>
      <p:sp>
        <p:nvSpPr>
          <p:cNvPr id="4" name="Shape 2"/>
          <p:cNvSpPr/>
          <p:nvPr/>
        </p:nvSpPr>
        <p:spPr>
          <a:xfrm>
            <a:off x="640080" y="1554480"/>
            <a:ext cx="5349240" cy="4572000"/>
          </a:xfrm>
          <a:prstGeom prst="roundRect">
            <a:avLst>
              <a:gd name="adj" fmla="val 1600"/>
            </a:avLst>
          </a:prstGeom>
          <a:solidFill>
            <a:srgbClr val="FFFFFF"/>
          </a:solidFill>
          <a:ln w="12700">
            <a:solidFill>
              <a:srgbClr val="E3E7F0"/>
            </a:solidFill>
            <a:prstDash val="solid"/>
          </a:ln>
          <a:effectLst>
            <a:outerShdw sx="100000" sy="100000" kx="0" ky="0" algn="bl" rotWithShape="0" blurRad="101600" dist="38100" dir="5400000">
              <a:srgbClr val="9AA5C0">
                <a:alpha val="35000"/>
              </a:srgbClr>
            </a:outerShdw>
          </a:effectLst>
        </p:spPr>
      </p:sp>
      <p:pic>
        <p:nvPicPr>
          <p:cNvPr id="5" name="Image 0" descr="cert.jpg">    </p:cNvPr>
          <p:cNvPicPr>
            <a:picLocks noChangeAspect="1"/>
          </p:cNvPicPr>
          <p:nvPr/>
        </p:nvPicPr>
        <p:blipFill>
          <a:blip r:embed="rId1"/>
          <a:stretch>
            <a:fillRect/>
          </a:stretch>
        </p:blipFill>
        <p:spPr>
          <a:xfrm>
            <a:off x="868680" y="1783080"/>
            <a:ext cx="4892040" cy="3447288"/>
          </a:xfrm>
          <a:prstGeom prst="rect">
            <a:avLst/>
          </a:prstGeom>
        </p:spPr>
      </p:pic>
      <p:sp>
        <p:nvSpPr>
          <p:cNvPr id="6" name="Text 3"/>
          <p:cNvSpPr/>
          <p:nvPr/>
        </p:nvSpPr>
        <p:spPr>
          <a:xfrm>
            <a:off x="868680" y="5349240"/>
            <a:ext cx="4892040" cy="502920"/>
          </a:xfrm>
          <a:prstGeom prst="rect">
            <a:avLst/>
          </a:prstGeom>
          <a:noFill/>
          <a:ln/>
        </p:spPr>
        <p:txBody>
          <a:bodyPr wrap="square"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Certificate ID: THX-AUG2626-093  •  26 Aug – 25 Sept 2026</a:t>
            </a:r>
            <a:endParaRPr lang="en-US" sz="1100" dirty="0"/>
          </a:p>
        </p:txBody>
      </p:sp>
      <p:sp>
        <p:nvSpPr>
          <p:cNvPr id="7" name="Shape 4"/>
          <p:cNvSpPr/>
          <p:nvPr/>
        </p:nvSpPr>
        <p:spPr>
          <a:xfrm>
            <a:off x="6217920" y="1554480"/>
            <a:ext cx="5349240" cy="4572000"/>
          </a:xfrm>
          <a:prstGeom prst="roundRect">
            <a:avLst>
              <a:gd name="adj" fmla="val 1600"/>
            </a:avLst>
          </a:prstGeom>
          <a:solidFill>
            <a:srgbClr val="FFFFFF"/>
          </a:solidFill>
          <a:ln w="12700">
            <a:solidFill>
              <a:srgbClr val="E3E7F0"/>
            </a:solidFill>
            <a:prstDash val="solid"/>
          </a:ln>
          <a:effectLst>
            <a:outerShdw sx="100000" sy="100000" kx="0" ky="0" algn="bl" rotWithShape="0" blurRad="101600" dist="38100" dir="5400000">
              <a:srgbClr val="9AA5C0">
                <a:alpha val="35000"/>
              </a:srgbClr>
            </a:outerShdw>
          </a:effectLst>
        </p:spPr>
      </p:sp>
      <p:pic>
        <p:nvPicPr>
          <p:cNvPr id="8" name="Image 1" descr="offerletter-1.jpg">    </p:cNvPr>
          <p:cNvPicPr>
            <a:picLocks noChangeAspect="1"/>
          </p:cNvPicPr>
          <p:nvPr/>
        </p:nvPicPr>
        <p:blipFill>
          <a:blip r:embed="rId2"/>
          <a:stretch>
            <a:fillRect/>
          </a:stretch>
        </p:blipFill>
        <p:spPr>
          <a:xfrm>
            <a:off x="7635240" y="1783080"/>
            <a:ext cx="2514600" cy="3547872"/>
          </a:xfrm>
          <a:prstGeom prst="rect">
            <a:avLst/>
          </a:prstGeom>
        </p:spPr>
      </p:pic>
      <p:sp>
        <p:nvSpPr>
          <p:cNvPr id="9" name="Text 5"/>
          <p:cNvSpPr/>
          <p:nvPr/>
        </p:nvSpPr>
        <p:spPr>
          <a:xfrm>
            <a:off x="6309360" y="5349240"/>
            <a:ext cx="5166360" cy="502920"/>
          </a:xfrm>
          <a:prstGeom prst="rect">
            <a:avLst/>
          </a:prstGeom>
          <a:noFill/>
          <a:ln/>
        </p:spPr>
        <p:txBody>
          <a:bodyPr wrap="square" rtlCol="0" anchor="ctr"/>
          <a:lstStyle/>
          <a:p>
            <a:pPr algn="ctr" indent="0" marL="0">
              <a:lnSpc>
                <a:spcPct val="120000"/>
              </a:lnSpc>
              <a:buNone/>
            </a:pPr>
            <a:r>
              <a:rPr lang="en-US" sz="1100" i="1" dirty="0">
                <a:solidFill>
                  <a:srgbClr val="6B7280"/>
                </a:solidFill>
                <a:latin typeface="Calibri" pitchFamily="34" charset="0"/>
                <a:ea typeface="Calibri" pitchFamily="34" charset="-122"/>
                <a:cs typeface="Calibri" pitchFamily="34" charset="-120"/>
              </a:rPr>
              <a:t>Offer Letter — Intern, Data Analytics</a:t>
            </a:r>
            <a:endParaRPr lang="en-US" sz="1100" dirty="0"/>
          </a:p>
          <a:p>
            <a:pPr algn="ctr" indent="0" marL="0">
              <a:lnSpc>
                <a:spcPct val="120000"/>
              </a:lnSpc>
              <a:buNone/>
            </a:pPr>
            <a:r>
              <a:rPr lang="en-US" sz="1100" i="1" dirty="0">
                <a:solidFill>
                  <a:srgbClr val="6B7280"/>
                </a:solidFill>
                <a:latin typeface="Calibri" pitchFamily="34" charset="0"/>
                <a:ea typeface="Calibri" pitchFamily="34" charset="-122"/>
                <a:cs typeface="Calibri" pitchFamily="34" charset="-120"/>
              </a:rPr>
              <a:t>Remote / Project-Based</a:t>
            </a:r>
            <a:endParaRPr lang="en-US" sz="1100" dirty="0"/>
          </a:p>
        </p:txBody>
      </p:sp>
      <p:sp>
        <p:nvSpPr>
          <p:cNvPr id="10" name="Text 6"/>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Thiranex Data Analytics Internship  •  Amit Kushwaha</a:t>
            </a:r>
            <a:endParaRPr lang="en-US" sz="900" dirty="0"/>
          </a:p>
        </p:txBody>
      </p:sp>
      <p:sp>
        <p:nvSpPr>
          <p:cNvPr id="11" name="Text 7"/>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4.1</a:t>
            </a:r>
            <a:endParaRPr lang="en-US" sz="1300" dirty="0"/>
          </a:p>
        </p:txBody>
      </p:sp>
      <p:sp>
        <p:nvSpPr>
          <p:cNvPr id="3" name="Text 1"/>
          <p:cNvSpPr/>
          <p:nvPr/>
        </p:nvSpPr>
        <p:spPr>
          <a:xfrm>
            <a:off x="640080" y="713232"/>
            <a:ext cx="1051560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Introduction</a:t>
            </a:r>
            <a:endParaRPr lang="en-US" sz="3000" dirty="0"/>
          </a:p>
        </p:txBody>
      </p:sp>
      <p:sp>
        <p:nvSpPr>
          <p:cNvPr id="4" name="Text 2"/>
          <p:cNvSpPr/>
          <p:nvPr/>
        </p:nvSpPr>
        <p:spPr>
          <a:xfrm>
            <a:off x="640080" y="1600200"/>
            <a:ext cx="10881360" cy="822960"/>
          </a:xfrm>
          <a:prstGeom prst="rect">
            <a:avLst/>
          </a:prstGeom>
          <a:noFill/>
          <a:ln/>
        </p:spPr>
        <p:txBody>
          <a:bodyPr wrap="square" rtlCol="0" anchor="ctr"/>
          <a:lstStyle/>
          <a:p>
            <a:pPr indent="0" marL="0">
              <a:lnSpc>
                <a:spcPct val="130000"/>
              </a:lnSpc>
              <a:buNone/>
            </a:pPr>
            <a:r>
              <a:rPr lang="en-US" sz="1400" dirty="0">
                <a:solidFill>
                  <a:srgbClr val="22273A"/>
                </a:solidFill>
                <a:latin typeface="Calibri" pitchFamily="34" charset="0"/>
                <a:ea typeface="Calibri" pitchFamily="34" charset="-122"/>
                <a:cs typeface="Calibri" pitchFamily="34" charset="-120"/>
              </a:rPr>
              <a:t>The Data Analytics internship at Thiranex provided practical, end-to-end exposure to a business analytics workflow — moving from dashboarding and segmentation through to predictive analytics and automated reporting.</a:t>
            </a:r>
            <a:endParaRPr lang="en-US" sz="1400" dirty="0"/>
          </a:p>
        </p:txBody>
      </p:sp>
      <p:sp>
        <p:nvSpPr>
          <p:cNvPr id="5" name="Shape 3"/>
          <p:cNvSpPr/>
          <p:nvPr/>
        </p:nvSpPr>
        <p:spPr>
          <a:xfrm>
            <a:off x="640080" y="2651760"/>
            <a:ext cx="2670048" cy="3108960"/>
          </a:xfrm>
          <a:prstGeom prst="roundRect">
            <a:avLst>
              <a:gd name="adj" fmla="val 3425"/>
            </a:avLst>
          </a:prstGeom>
          <a:solidFill>
            <a:srgbClr val="F4F6FB"/>
          </a:solidFill>
          <a:ln/>
        </p:spPr>
      </p:sp>
      <p:pic>
        <p:nvPicPr>
          <p:cNvPr id="6" name="Image 0" descr="icon_dashboard.png">    </p:cNvPr>
          <p:cNvPicPr>
            <a:picLocks noChangeAspect="1"/>
          </p:cNvPicPr>
          <p:nvPr/>
        </p:nvPicPr>
        <p:blipFill>
          <a:blip r:embed="rId1"/>
          <a:stretch>
            <a:fillRect/>
          </a:stretch>
        </p:blipFill>
        <p:spPr>
          <a:xfrm>
            <a:off x="1655064" y="2926080"/>
            <a:ext cx="640080" cy="640080"/>
          </a:xfrm>
          <a:prstGeom prst="rect">
            <a:avLst/>
          </a:prstGeom>
        </p:spPr>
      </p:pic>
      <p:sp>
        <p:nvSpPr>
          <p:cNvPr id="7" name="Text 4"/>
          <p:cNvSpPr/>
          <p:nvPr/>
        </p:nvSpPr>
        <p:spPr>
          <a:xfrm>
            <a:off x="804672" y="3749040"/>
            <a:ext cx="2340864" cy="685800"/>
          </a:xfrm>
          <a:prstGeom prst="rect">
            <a:avLst/>
          </a:prstGeom>
          <a:noFill/>
          <a:ln/>
        </p:spPr>
        <p:txBody>
          <a:bodyPr wrap="square" rtlCol="0" anchor="t"/>
          <a:lstStyle/>
          <a:p>
            <a:pPr algn="ctr" indent="0" marL="0">
              <a:buNone/>
            </a:pPr>
            <a:r>
              <a:rPr lang="en-US" sz="1300" b="1" dirty="0">
                <a:solidFill>
                  <a:srgbClr val="1E2761"/>
                </a:solidFill>
                <a:latin typeface="Calibri" pitchFamily="34" charset="0"/>
                <a:ea typeface="Calibri" pitchFamily="34" charset="-122"/>
                <a:cs typeface="Calibri" pitchFamily="34" charset="-120"/>
              </a:rPr>
              <a:t>1. Sales &amp; Revenue Dashboard</a:t>
            </a:r>
            <a:endParaRPr lang="en-US" sz="1300" dirty="0"/>
          </a:p>
        </p:txBody>
      </p:sp>
      <p:sp>
        <p:nvSpPr>
          <p:cNvPr id="8" name="Text 5"/>
          <p:cNvSpPr/>
          <p:nvPr/>
        </p:nvSpPr>
        <p:spPr>
          <a:xfrm>
            <a:off x="822960" y="4480560"/>
            <a:ext cx="2304288" cy="1097280"/>
          </a:xfrm>
          <a:prstGeom prst="rect">
            <a:avLst/>
          </a:prstGeom>
          <a:noFill/>
          <a:ln/>
        </p:spPr>
        <p:txBody>
          <a:bodyPr wrap="square" rtlCol="0" anchor="t"/>
          <a:lstStyle/>
          <a:p>
            <a:pPr algn="ctr" indent="0" marL="0">
              <a:lnSpc>
                <a:spcPct val="120000"/>
              </a:lnSpc>
              <a:buNone/>
            </a:pPr>
            <a:r>
              <a:rPr lang="en-US" sz="1050" dirty="0">
                <a:solidFill>
                  <a:srgbClr val="22273A"/>
                </a:solidFill>
                <a:latin typeface="Calibri" pitchFamily="34" charset="0"/>
                <a:ea typeface="Calibri" pitchFamily="34" charset="-122"/>
                <a:cs typeface="Calibri" pitchFamily="34" charset="-120"/>
              </a:rPr>
              <a:t>Visualise KPIs — total sales, revenue trends, top products.</a:t>
            </a:r>
            <a:endParaRPr lang="en-US" sz="1050" dirty="0"/>
          </a:p>
        </p:txBody>
      </p:sp>
      <p:sp>
        <p:nvSpPr>
          <p:cNvPr id="9" name="Shape 6"/>
          <p:cNvSpPr/>
          <p:nvPr/>
        </p:nvSpPr>
        <p:spPr>
          <a:xfrm>
            <a:off x="3529584" y="2651760"/>
            <a:ext cx="2670048" cy="3108960"/>
          </a:xfrm>
          <a:prstGeom prst="roundRect">
            <a:avLst>
              <a:gd name="adj" fmla="val 3425"/>
            </a:avLst>
          </a:prstGeom>
          <a:solidFill>
            <a:srgbClr val="F4F6FB"/>
          </a:solidFill>
          <a:ln/>
        </p:spPr>
      </p:sp>
      <p:pic>
        <p:nvPicPr>
          <p:cNvPr id="10" name="Image 1" descr="icon_segmentation.png">    </p:cNvPr>
          <p:cNvPicPr>
            <a:picLocks noChangeAspect="1"/>
          </p:cNvPicPr>
          <p:nvPr/>
        </p:nvPicPr>
        <p:blipFill>
          <a:blip r:embed="rId2"/>
          <a:stretch>
            <a:fillRect/>
          </a:stretch>
        </p:blipFill>
        <p:spPr>
          <a:xfrm>
            <a:off x="4544568" y="2926080"/>
            <a:ext cx="640080" cy="640080"/>
          </a:xfrm>
          <a:prstGeom prst="rect">
            <a:avLst/>
          </a:prstGeom>
        </p:spPr>
      </p:pic>
      <p:sp>
        <p:nvSpPr>
          <p:cNvPr id="11" name="Text 7"/>
          <p:cNvSpPr/>
          <p:nvPr/>
        </p:nvSpPr>
        <p:spPr>
          <a:xfrm>
            <a:off x="3694176" y="3749040"/>
            <a:ext cx="2340864" cy="685800"/>
          </a:xfrm>
          <a:prstGeom prst="rect">
            <a:avLst/>
          </a:prstGeom>
          <a:noFill/>
          <a:ln/>
        </p:spPr>
        <p:txBody>
          <a:bodyPr wrap="square" rtlCol="0" anchor="t"/>
          <a:lstStyle/>
          <a:p>
            <a:pPr algn="ctr" indent="0" marL="0">
              <a:buNone/>
            </a:pPr>
            <a:r>
              <a:rPr lang="en-US" sz="1300" b="1" dirty="0">
                <a:solidFill>
                  <a:srgbClr val="1E2761"/>
                </a:solidFill>
                <a:latin typeface="Calibri" pitchFamily="34" charset="0"/>
                <a:ea typeface="Calibri" pitchFamily="34" charset="-122"/>
                <a:cs typeface="Calibri" pitchFamily="34" charset="-120"/>
              </a:rPr>
              <a:t>2. Customer Segmentation</a:t>
            </a:r>
            <a:endParaRPr lang="en-US" sz="1300" dirty="0"/>
          </a:p>
        </p:txBody>
      </p:sp>
      <p:sp>
        <p:nvSpPr>
          <p:cNvPr id="12" name="Text 8"/>
          <p:cNvSpPr/>
          <p:nvPr/>
        </p:nvSpPr>
        <p:spPr>
          <a:xfrm>
            <a:off x="3712464" y="4480560"/>
            <a:ext cx="2304288" cy="1097280"/>
          </a:xfrm>
          <a:prstGeom prst="rect">
            <a:avLst/>
          </a:prstGeom>
          <a:noFill/>
          <a:ln/>
        </p:spPr>
        <p:txBody>
          <a:bodyPr wrap="square" rtlCol="0" anchor="t"/>
          <a:lstStyle/>
          <a:p>
            <a:pPr algn="ctr" indent="0" marL="0">
              <a:lnSpc>
                <a:spcPct val="120000"/>
              </a:lnSpc>
              <a:buNone/>
            </a:pPr>
            <a:r>
              <a:rPr lang="en-US" sz="1050" dirty="0">
                <a:solidFill>
                  <a:srgbClr val="22273A"/>
                </a:solidFill>
                <a:latin typeface="Calibri" pitchFamily="34" charset="0"/>
                <a:ea typeface="Calibri" pitchFamily="34" charset="-122"/>
                <a:cs typeface="Calibri" pitchFamily="34" charset="-120"/>
              </a:rPr>
              <a:t>Cluster customers by behaviour and demographics.</a:t>
            </a:r>
            <a:endParaRPr lang="en-US" sz="1050" dirty="0"/>
          </a:p>
        </p:txBody>
      </p:sp>
      <p:sp>
        <p:nvSpPr>
          <p:cNvPr id="13" name="Shape 9"/>
          <p:cNvSpPr/>
          <p:nvPr/>
        </p:nvSpPr>
        <p:spPr>
          <a:xfrm>
            <a:off x="6419088" y="2651760"/>
            <a:ext cx="2670048" cy="3108960"/>
          </a:xfrm>
          <a:prstGeom prst="roundRect">
            <a:avLst>
              <a:gd name="adj" fmla="val 3425"/>
            </a:avLst>
          </a:prstGeom>
          <a:solidFill>
            <a:srgbClr val="F4F6FB"/>
          </a:solidFill>
          <a:ln/>
        </p:spPr>
      </p:sp>
      <p:pic>
        <p:nvPicPr>
          <p:cNvPr id="14" name="Image 2" descr="icon_predictive.png">    </p:cNvPr>
          <p:cNvPicPr>
            <a:picLocks noChangeAspect="1"/>
          </p:cNvPicPr>
          <p:nvPr/>
        </p:nvPicPr>
        <p:blipFill>
          <a:blip r:embed="rId3"/>
          <a:stretch>
            <a:fillRect/>
          </a:stretch>
        </p:blipFill>
        <p:spPr>
          <a:xfrm>
            <a:off x="7434072" y="2926080"/>
            <a:ext cx="640080" cy="640080"/>
          </a:xfrm>
          <a:prstGeom prst="rect">
            <a:avLst/>
          </a:prstGeom>
        </p:spPr>
      </p:pic>
      <p:sp>
        <p:nvSpPr>
          <p:cNvPr id="15" name="Text 10"/>
          <p:cNvSpPr/>
          <p:nvPr/>
        </p:nvSpPr>
        <p:spPr>
          <a:xfrm>
            <a:off x="6583680" y="3749040"/>
            <a:ext cx="2340864" cy="685800"/>
          </a:xfrm>
          <a:prstGeom prst="rect">
            <a:avLst/>
          </a:prstGeom>
          <a:noFill/>
          <a:ln/>
        </p:spPr>
        <p:txBody>
          <a:bodyPr wrap="square" rtlCol="0" anchor="t"/>
          <a:lstStyle/>
          <a:p>
            <a:pPr algn="ctr" indent="0" marL="0">
              <a:buNone/>
            </a:pPr>
            <a:r>
              <a:rPr lang="en-US" sz="1300" b="1" dirty="0">
                <a:solidFill>
                  <a:srgbClr val="1E2761"/>
                </a:solidFill>
                <a:latin typeface="Calibri" pitchFamily="34" charset="0"/>
                <a:ea typeface="Calibri" pitchFamily="34" charset="-122"/>
                <a:cs typeface="Calibri" pitchFamily="34" charset="-120"/>
              </a:rPr>
              <a:t>3. Predictive Analytics</a:t>
            </a:r>
            <a:endParaRPr lang="en-US" sz="1300" dirty="0"/>
          </a:p>
        </p:txBody>
      </p:sp>
      <p:sp>
        <p:nvSpPr>
          <p:cNvPr id="16" name="Text 11"/>
          <p:cNvSpPr/>
          <p:nvPr/>
        </p:nvSpPr>
        <p:spPr>
          <a:xfrm>
            <a:off x="6601968" y="4480560"/>
            <a:ext cx="2304288" cy="1097280"/>
          </a:xfrm>
          <a:prstGeom prst="rect">
            <a:avLst/>
          </a:prstGeom>
          <a:noFill/>
          <a:ln/>
        </p:spPr>
        <p:txBody>
          <a:bodyPr wrap="square" rtlCol="0" anchor="t"/>
          <a:lstStyle/>
          <a:p>
            <a:pPr algn="ctr" indent="0" marL="0">
              <a:lnSpc>
                <a:spcPct val="120000"/>
              </a:lnSpc>
              <a:buNone/>
            </a:pPr>
            <a:r>
              <a:rPr lang="en-US" sz="1050" dirty="0">
                <a:solidFill>
                  <a:srgbClr val="22273A"/>
                </a:solidFill>
                <a:latin typeface="Calibri" pitchFamily="34" charset="0"/>
                <a:ea typeface="Calibri" pitchFamily="34" charset="-122"/>
                <a:cs typeface="Calibri" pitchFamily="34" charset="-120"/>
              </a:rPr>
              <a:t>Forecast trends with regression / time-series models.</a:t>
            </a:r>
            <a:endParaRPr lang="en-US" sz="1050" dirty="0"/>
          </a:p>
        </p:txBody>
      </p:sp>
      <p:sp>
        <p:nvSpPr>
          <p:cNvPr id="17" name="Shape 12"/>
          <p:cNvSpPr/>
          <p:nvPr/>
        </p:nvSpPr>
        <p:spPr>
          <a:xfrm>
            <a:off x="9308592" y="2651760"/>
            <a:ext cx="2670048" cy="3108960"/>
          </a:xfrm>
          <a:prstGeom prst="roundRect">
            <a:avLst>
              <a:gd name="adj" fmla="val 3425"/>
            </a:avLst>
          </a:prstGeom>
          <a:solidFill>
            <a:srgbClr val="F4F6FB"/>
          </a:solidFill>
          <a:ln/>
        </p:spPr>
      </p:sp>
      <p:pic>
        <p:nvPicPr>
          <p:cNvPr id="18" name="Image 3" descr="icon_cleaning.png">    </p:cNvPr>
          <p:cNvPicPr>
            <a:picLocks noChangeAspect="1"/>
          </p:cNvPicPr>
          <p:nvPr/>
        </p:nvPicPr>
        <p:blipFill>
          <a:blip r:embed="rId4"/>
          <a:stretch>
            <a:fillRect/>
          </a:stretch>
        </p:blipFill>
        <p:spPr>
          <a:xfrm>
            <a:off x="10323576" y="2926080"/>
            <a:ext cx="640080" cy="640080"/>
          </a:xfrm>
          <a:prstGeom prst="rect">
            <a:avLst/>
          </a:prstGeom>
        </p:spPr>
      </p:pic>
      <p:sp>
        <p:nvSpPr>
          <p:cNvPr id="19" name="Text 13"/>
          <p:cNvSpPr/>
          <p:nvPr/>
        </p:nvSpPr>
        <p:spPr>
          <a:xfrm>
            <a:off x="9473184" y="3749040"/>
            <a:ext cx="2340864" cy="685800"/>
          </a:xfrm>
          <a:prstGeom prst="rect">
            <a:avLst/>
          </a:prstGeom>
          <a:noFill/>
          <a:ln/>
        </p:spPr>
        <p:txBody>
          <a:bodyPr wrap="square" rtlCol="0" anchor="t"/>
          <a:lstStyle/>
          <a:p>
            <a:pPr algn="ctr" indent="0" marL="0">
              <a:buNone/>
            </a:pPr>
            <a:r>
              <a:rPr lang="en-US" sz="1300" b="1" dirty="0">
                <a:solidFill>
                  <a:srgbClr val="1E2761"/>
                </a:solidFill>
                <a:latin typeface="Calibri" pitchFamily="34" charset="0"/>
                <a:ea typeface="Calibri" pitchFamily="34" charset="-122"/>
                <a:cs typeface="Calibri" pitchFamily="34" charset="-120"/>
              </a:rPr>
              <a:t>4. Cleaning &amp; Automation</a:t>
            </a:r>
            <a:endParaRPr lang="en-US" sz="1300" dirty="0"/>
          </a:p>
        </p:txBody>
      </p:sp>
      <p:sp>
        <p:nvSpPr>
          <p:cNvPr id="20" name="Text 14"/>
          <p:cNvSpPr/>
          <p:nvPr/>
        </p:nvSpPr>
        <p:spPr>
          <a:xfrm>
            <a:off x="9491472" y="4480560"/>
            <a:ext cx="2304288" cy="1097280"/>
          </a:xfrm>
          <a:prstGeom prst="rect">
            <a:avLst/>
          </a:prstGeom>
          <a:noFill/>
          <a:ln/>
        </p:spPr>
        <p:txBody>
          <a:bodyPr wrap="square" rtlCol="0" anchor="t"/>
          <a:lstStyle/>
          <a:p>
            <a:pPr algn="ctr" indent="0" marL="0">
              <a:lnSpc>
                <a:spcPct val="120000"/>
              </a:lnSpc>
              <a:buNone/>
            </a:pPr>
            <a:r>
              <a:rPr lang="en-US" sz="1050" dirty="0">
                <a:solidFill>
                  <a:srgbClr val="22273A"/>
                </a:solidFill>
                <a:latin typeface="Calibri" pitchFamily="34" charset="0"/>
                <a:ea typeface="Calibri" pitchFamily="34" charset="-122"/>
                <a:cs typeface="Calibri" pitchFamily="34" charset="-120"/>
              </a:rPr>
              <a:t>Automate cleaning, handle gaps, generate reports.</a:t>
            </a:r>
            <a:endParaRPr lang="en-US" sz="1050" dirty="0"/>
          </a:p>
        </p:txBody>
      </p:sp>
      <p:sp>
        <p:nvSpPr>
          <p:cNvPr id="21" name="Text 15"/>
          <p:cNvSpPr/>
          <p:nvPr/>
        </p:nvSpPr>
        <p:spPr>
          <a:xfrm>
            <a:off x="640080" y="5943600"/>
            <a:ext cx="10881360" cy="457200"/>
          </a:xfrm>
          <a:prstGeom prst="rect">
            <a:avLst/>
          </a:prstGeom>
          <a:noFill/>
          <a:ln/>
        </p:spPr>
        <p:txBody>
          <a:bodyPr wrap="square"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Together these four tasks build an end-to-end understanding of preparing, visualising, modelling and communicating business data.</a:t>
            </a:r>
            <a:endParaRPr lang="en-US" sz="1150" dirty="0"/>
          </a:p>
        </p:txBody>
      </p:sp>
      <p:sp>
        <p:nvSpPr>
          <p:cNvPr id="22" name="Text 16"/>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Thiranex Data Analytics Internship  •  Amit Kushwaha</a:t>
            </a:r>
            <a:endParaRPr lang="en-US" sz="900" dirty="0"/>
          </a:p>
        </p:txBody>
      </p:sp>
      <p:sp>
        <p:nvSpPr>
          <p:cNvPr id="23" name="Text 17"/>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3474720"/>
            <a:ext cx="5029200" cy="5029200"/>
          </a:xfrm>
          <a:prstGeom prst="ellipse">
            <a:avLst/>
          </a:prstGeom>
          <a:solidFill>
            <a:srgbClr val="141B4D"/>
          </a:solidFill>
          <a:ln/>
        </p:spPr>
      </p:sp>
      <p:pic>
        <p:nvPicPr>
          <p:cNvPr id="3" name="Image 0" descr="icon_org.png">    </p:cNvPr>
          <p:cNvPicPr>
            <a:picLocks noChangeAspect="1"/>
          </p:cNvPicPr>
          <p:nvPr/>
        </p:nvPicPr>
        <p:blipFill>
          <a:blip r:embed="rId1"/>
          <a:stretch>
            <a:fillRect/>
          </a:stretch>
        </p:blipFill>
        <p:spPr>
          <a:xfrm>
            <a:off x="640080" y="502920"/>
            <a:ext cx="640080" cy="640080"/>
          </a:xfrm>
          <a:prstGeom prst="rect">
            <a:avLst/>
          </a:prstGeom>
        </p:spPr>
      </p:pic>
      <p:sp>
        <p:nvSpPr>
          <p:cNvPr id="4" name="Text 1"/>
          <p:cNvSpPr/>
          <p:nvPr/>
        </p:nvSpPr>
        <p:spPr>
          <a:xfrm>
            <a:off x="1417320" y="548640"/>
            <a:ext cx="5486400" cy="36576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ORGANIZATION PROFILE</a:t>
            </a:r>
            <a:endParaRPr lang="en-US" sz="1300" dirty="0"/>
          </a:p>
        </p:txBody>
      </p:sp>
      <p:sp>
        <p:nvSpPr>
          <p:cNvPr id="5" name="Text 2"/>
          <p:cNvSpPr/>
          <p:nvPr/>
        </p:nvSpPr>
        <p:spPr>
          <a:xfrm>
            <a:off x="640080" y="960120"/>
            <a:ext cx="1051560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Thiranex — Skill Development &amp; Future Tech</a:t>
            </a:r>
            <a:endParaRPr lang="en-US" sz="2600" dirty="0"/>
          </a:p>
        </p:txBody>
      </p:sp>
      <p:sp>
        <p:nvSpPr>
          <p:cNvPr id="6" name="Text 3"/>
          <p:cNvSpPr/>
          <p:nvPr/>
        </p:nvSpPr>
        <p:spPr>
          <a:xfrm>
            <a:off x="640080" y="1920240"/>
            <a:ext cx="6400800" cy="1920240"/>
          </a:xfrm>
          <a:prstGeom prst="rect">
            <a:avLst/>
          </a:prstGeom>
          <a:noFill/>
          <a:ln/>
        </p:spPr>
        <p:txBody>
          <a:bodyPr wrap="square" rtlCol="0" anchor="t"/>
          <a:lstStyle/>
          <a:p>
            <a:pPr indent="0" marL="0">
              <a:lnSpc>
                <a:spcPct val="135000"/>
              </a:lnSpc>
              <a:buNone/>
            </a:pPr>
            <a:r>
              <a:rPr lang="en-US" sz="1350" dirty="0">
                <a:solidFill>
                  <a:srgbClr val="CADCFC"/>
                </a:solidFill>
                <a:latin typeface="Calibri" pitchFamily="34" charset="0"/>
                <a:ea typeface="Calibri" pitchFamily="34" charset="-122"/>
                <a:cs typeface="Calibri" pitchFamily="34" charset="-120"/>
              </a:rPr>
              <a:t>Thiranex is a skill development and future technology organization. Its internship portal offers a structured Data Analytics learning path with practical assignments, task tutorials, and completion tracking — allowing interns to progress through real business-analytics scenarios with mentor visibility at every stage.</a:t>
            </a:r>
            <a:endParaRPr lang="en-US" sz="1350" dirty="0"/>
          </a:p>
        </p:txBody>
      </p:sp>
      <p:sp>
        <p:nvSpPr>
          <p:cNvPr id="7" name="Shape 4"/>
          <p:cNvSpPr/>
          <p:nvPr/>
        </p:nvSpPr>
        <p:spPr>
          <a:xfrm>
            <a:off x="640080" y="4114800"/>
            <a:ext cx="10607040" cy="1965960"/>
          </a:xfrm>
          <a:prstGeom prst="roundRect">
            <a:avLst>
              <a:gd name="adj" fmla="val 4651"/>
            </a:avLst>
          </a:prstGeom>
          <a:solidFill>
            <a:srgbClr val="141B4D"/>
          </a:solidFill>
          <a:ln w="12700">
            <a:solidFill>
              <a:srgbClr val="3B4680"/>
            </a:solidFill>
            <a:prstDash val="solid"/>
          </a:ln>
        </p:spPr>
      </p:sp>
      <p:sp>
        <p:nvSpPr>
          <p:cNvPr id="8" name="Text 5"/>
          <p:cNvSpPr/>
          <p:nvPr/>
        </p:nvSpPr>
        <p:spPr>
          <a:xfrm>
            <a:off x="640080" y="4297680"/>
            <a:ext cx="2651760" cy="640080"/>
          </a:xfrm>
          <a:prstGeom prst="rect">
            <a:avLst/>
          </a:prstGeom>
          <a:noFill/>
          <a:ln/>
        </p:spPr>
        <p:txBody>
          <a:bodyPr wrap="square" rtlCol="0" anchor="ctr"/>
          <a:lstStyle/>
          <a:p>
            <a:pPr algn="ctr" indent="0" marL="0">
              <a:buNone/>
            </a:pPr>
            <a:r>
              <a:rPr lang="en-US" sz="3000" b="1" dirty="0">
                <a:solidFill>
                  <a:srgbClr val="C9A24B"/>
                </a:solidFill>
                <a:latin typeface="Cambria" pitchFamily="34" charset="0"/>
                <a:ea typeface="Cambria" pitchFamily="34" charset="-122"/>
                <a:cs typeface="Cambria" pitchFamily="34" charset="-120"/>
              </a:rPr>
              <a:t>4</a:t>
            </a:r>
            <a:endParaRPr lang="en-US" sz="3000" dirty="0"/>
          </a:p>
        </p:txBody>
      </p:sp>
      <p:sp>
        <p:nvSpPr>
          <p:cNvPr id="9" name="Text 6"/>
          <p:cNvSpPr/>
          <p:nvPr/>
        </p:nvSpPr>
        <p:spPr>
          <a:xfrm>
            <a:off x="640080" y="4983480"/>
            <a:ext cx="2651760" cy="822960"/>
          </a:xfrm>
          <a:prstGeom prst="rect">
            <a:avLst/>
          </a:prstGeom>
          <a:noFill/>
          <a:ln/>
        </p:spPr>
        <p:txBody>
          <a:bodyPr wrap="square" rtlCol="0" anchor="ctr"/>
          <a:lstStyle/>
          <a:p>
            <a:pPr algn="ctr" indent="0" marL="0">
              <a:lnSpc>
                <a:spcPct val="115000"/>
              </a:lnSpc>
              <a:buNone/>
            </a:pPr>
            <a:r>
              <a:rPr lang="en-US" sz="1100" dirty="0">
                <a:solidFill>
                  <a:srgbClr val="CADCFC"/>
                </a:solidFill>
                <a:latin typeface="Calibri" pitchFamily="34" charset="0"/>
                <a:ea typeface="Calibri" pitchFamily="34" charset="-122"/>
                <a:cs typeface="Calibri" pitchFamily="34" charset="-120"/>
              </a:rPr>
              <a:t>Structured</a:t>
            </a:r>
            <a:endParaRPr lang="en-US" sz="1100" dirty="0"/>
          </a:p>
          <a:p>
            <a:pPr algn="ctr" indent="0" marL="0">
              <a:lnSpc>
                <a:spcPct val="115000"/>
              </a:lnSpc>
              <a:buNone/>
            </a:pPr>
            <a:r>
              <a:rPr lang="en-US" sz="1100" dirty="0">
                <a:solidFill>
                  <a:srgbClr val="CADCFC"/>
                </a:solidFill>
                <a:latin typeface="Calibri" pitchFamily="34" charset="0"/>
                <a:ea typeface="Calibri" pitchFamily="34" charset="-122"/>
                <a:cs typeface="Calibri" pitchFamily="34" charset="-120"/>
              </a:rPr>
              <a:t>Tasks Completed</a:t>
            </a:r>
            <a:endParaRPr lang="en-US" sz="1100" dirty="0"/>
          </a:p>
        </p:txBody>
      </p:sp>
      <p:sp>
        <p:nvSpPr>
          <p:cNvPr id="10" name="Text 7"/>
          <p:cNvSpPr/>
          <p:nvPr/>
        </p:nvSpPr>
        <p:spPr>
          <a:xfrm>
            <a:off x="3291840" y="4297680"/>
            <a:ext cx="2651760" cy="640080"/>
          </a:xfrm>
          <a:prstGeom prst="rect">
            <a:avLst/>
          </a:prstGeom>
          <a:noFill/>
          <a:ln/>
        </p:spPr>
        <p:txBody>
          <a:bodyPr wrap="square" rtlCol="0" anchor="ctr"/>
          <a:lstStyle/>
          <a:p>
            <a:pPr algn="ctr" indent="0" marL="0">
              <a:buNone/>
            </a:pPr>
            <a:r>
              <a:rPr lang="en-US" sz="3000" b="1" dirty="0">
                <a:solidFill>
                  <a:srgbClr val="C9A24B"/>
                </a:solidFill>
                <a:latin typeface="Cambria" pitchFamily="34" charset="0"/>
                <a:ea typeface="Cambria" pitchFamily="34" charset="-122"/>
                <a:cs typeface="Cambria" pitchFamily="34" charset="-120"/>
              </a:rPr>
              <a:t>26 Aug</a:t>
            </a:r>
            <a:endParaRPr lang="en-US" sz="3000" dirty="0"/>
          </a:p>
        </p:txBody>
      </p:sp>
      <p:sp>
        <p:nvSpPr>
          <p:cNvPr id="11" name="Text 8"/>
          <p:cNvSpPr/>
          <p:nvPr/>
        </p:nvSpPr>
        <p:spPr>
          <a:xfrm>
            <a:off x="3291840" y="4983480"/>
            <a:ext cx="2651760" cy="822960"/>
          </a:xfrm>
          <a:prstGeom prst="rect">
            <a:avLst/>
          </a:prstGeom>
          <a:noFill/>
          <a:ln/>
        </p:spPr>
        <p:txBody>
          <a:bodyPr wrap="square" rtlCol="0" anchor="ctr"/>
          <a:lstStyle/>
          <a:p>
            <a:pPr algn="ctr" indent="0" marL="0">
              <a:lnSpc>
                <a:spcPct val="115000"/>
              </a:lnSpc>
              <a:buNone/>
            </a:pPr>
            <a:r>
              <a:rPr lang="en-US" sz="1100" dirty="0">
                <a:solidFill>
                  <a:srgbClr val="CADCFC"/>
                </a:solidFill>
                <a:latin typeface="Calibri" pitchFamily="34" charset="0"/>
                <a:ea typeface="Calibri" pitchFamily="34" charset="-122"/>
                <a:cs typeface="Calibri" pitchFamily="34" charset="-120"/>
              </a:rPr>
              <a:t>Internship</a:t>
            </a:r>
            <a:endParaRPr lang="en-US" sz="1100" dirty="0"/>
          </a:p>
          <a:p>
            <a:pPr algn="ctr" indent="0" marL="0">
              <a:lnSpc>
                <a:spcPct val="115000"/>
              </a:lnSpc>
              <a:buNone/>
            </a:pPr>
            <a:r>
              <a:rPr lang="en-US" sz="1100" dirty="0">
                <a:solidFill>
                  <a:srgbClr val="CADCFC"/>
                </a:solidFill>
                <a:latin typeface="Calibri" pitchFamily="34" charset="0"/>
                <a:ea typeface="Calibri" pitchFamily="34" charset="-122"/>
                <a:cs typeface="Calibri" pitchFamily="34" charset="-120"/>
              </a:rPr>
              <a:t>Commencement</a:t>
            </a:r>
            <a:endParaRPr lang="en-US" sz="1100" dirty="0"/>
          </a:p>
        </p:txBody>
      </p:sp>
      <p:sp>
        <p:nvSpPr>
          <p:cNvPr id="12" name="Text 9"/>
          <p:cNvSpPr/>
          <p:nvPr/>
        </p:nvSpPr>
        <p:spPr>
          <a:xfrm>
            <a:off x="5943600" y="4297680"/>
            <a:ext cx="2651760" cy="640080"/>
          </a:xfrm>
          <a:prstGeom prst="rect">
            <a:avLst/>
          </a:prstGeom>
          <a:noFill/>
          <a:ln/>
        </p:spPr>
        <p:txBody>
          <a:bodyPr wrap="square" rtlCol="0" anchor="ctr"/>
          <a:lstStyle/>
          <a:p>
            <a:pPr algn="ctr" indent="0" marL="0">
              <a:buNone/>
            </a:pPr>
            <a:r>
              <a:rPr lang="en-US" sz="3000" b="1" dirty="0">
                <a:solidFill>
                  <a:srgbClr val="C9A24B"/>
                </a:solidFill>
                <a:latin typeface="Cambria" pitchFamily="34" charset="0"/>
                <a:ea typeface="Cambria" pitchFamily="34" charset="-122"/>
                <a:cs typeface="Cambria" pitchFamily="34" charset="-120"/>
              </a:rPr>
              <a:t>25 Sept</a:t>
            </a:r>
            <a:endParaRPr lang="en-US" sz="3000" dirty="0"/>
          </a:p>
        </p:txBody>
      </p:sp>
      <p:sp>
        <p:nvSpPr>
          <p:cNvPr id="13" name="Text 10"/>
          <p:cNvSpPr/>
          <p:nvPr/>
        </p:nvSpPr>
        <p:spPr>
          <a:xfrm>
            <a:off x="5943600" y="4983480"/>
            <a:ext cx="2651760" cy="822960"/>
          </a:xfrm>
          <a:prstGeom prst="rect">
            <a:avLst/>
          </a:prstGeom>
          <a:noFill/>
          <a:ln/>
        </p:spPr>
        <p:txBody>
          <a:bodyPr wrap="square" rtlCol="0" anchor="ctr"/>
          <a:lstStyle/>
          <a:p>
            <a:pPr algn="ctr" indent="0" marL="0">
              <a:lnSpc>
                <a:spcPct val="115000"/>
              </a:lnSpc>
              <a:buNone/>
            </a:pPr>
            <a:r>
              <a:rPr lang="en-US" sz="1100" dirty="0">
                <a:solidFill>
                  <a:srgbClr val="CADCFC"/>
                </a:solidFill>
                <a:latin typeface="Calibri" pitchFamily="34" charset="0"/>
                <a:ea typeface="Calibri" pitchFamily="34" charset="-122"/>
                <a:cs typeface="Calibri" pitchFamily="34" charset="-120"/>
              </a:rPr>
              <a:t>Internship</a:t>
            </a:r>
            <a:endParaRPr lang="en-US" sz="1100" dirty="0"/>
          </a:p>
          <a:p>
            <a:pPr algn="ctr" indent="0" marL="0">
              <a:lnSpc>
                <a:spcPct val="115000"/>
              </a:lnSpc>
              <a:buNone/>
            </a:pPr>
            <a:r>
              <a:rPr lang="en-US" sz="1100" dirty="0">
                <a:solidFill>
                  <a:srgbClr val="CADCFC"/>
                </a:solidFill>
                <a:latin typeface="Calibri" pitchFamily="34" charset="0"/>
                <a:ea typeface="Calibri" pitchFamily="34" charset="-122"/>
                <a:cs typeface="Calibri" pitchFamily="34" charset="-120"/>
              </a:rPr>
              <a:t>Completion</a:t>
            </a:r>
            <a:endParaRPr lang="en-US" sz="1100" dirty="0"/>
          </a:p>
        </p:txBody>
      </p:sp>
      <p:sp>
        <p:nvSpPr>
          <p:cNvPr id="14" name="Text 11"/>
          <p:cNvSpPr/>
          <p:nvPr/>
        </p:nvSpPr>
        <p:spPr>
          <a:xfrm>
            <a:off x="8595360" y="4297680"/>
            <a:ext cx="2651760" cy="640080"/>
          </a:xfrm>
          <a:prstGeom prst="rect">
            <a:avLst/>
          </a:prstGeom>
          <a:noFill/>
          <a:ln/>
        </p:spPr>
        <p:txBody>
          <a:bodyPr wrap="square" rtlCol="0" anchor="ctr"/>
          <a:lstStyle/>
          <a:p>
            <a:pPr algn="ctr" indent="0" marL="0">
              <a:buNone/>
            </a:pPr>
            <a:r>
              <a:rPr lang="en-US" sz="3000" b="1" dirty="0">
                <a:solidFill>
                  <a:srgbClr val="C9A24B"/>
                </a:solidFill>
                <a:latin typeface="Cambria" pitchFamily="34" charset="0"/>
                <a:ea typeface="Cambria" pitchFamily="34" charset="-122"/>
                <a:cs typeface="Cambria" pitchFamily="34" charset="-120"/>
              </a:rPr>
              <a:t>100%</a:t>
            </a:r>
            <a:endParaRPr lang="en-US" sz="3000" dirty="0"/>
          </a:p>
        </p:txBody>
      </p:sp>
      <p:sp>
        <p:nvSpPr>
          <p:cNvPr id="15" name="Text 12"/>
          <p:cNvSpPr/>
          <p:nvPr/>
        </p:nvSpPr>
        <p:spPr>
          <a:xfrm>
            <a:off x="8595360" y="4983480"/>
            <a:ext cx="2651760" cy="822960"/>
          </a:xfrm>
          <a:prstGeom prst="rect">
            <a:avLst/>
          </a:prstGeom>
          <a:noFill/>
          <a:ln/>
        </p:spPr>
        <p:txBody>
          <a:bodyPr wrap="square" rtlCol="0" anchor="ctr"/>
          <a:lstStyle/>
          <a:p>
            <a:pPr algn="ctr" indent="0" marL="0">
              <a:lnSpc>
                <a:spcPct val="115000"/>
              </a:lnSpc>
              <a:buNone/>
            </a:pPr>
            <a:r>
              <a:rPr lang="en-US" sz="1100" dirty="0">
                <a:solidFill>
                  <a:srgbClr val="CADCFC"/>
                </a:solidFill>
                <a:latin typeface="Calibri" pitchFamily="34" charset="0"/>
                <a:ea typeface="Calibri" pitchFamily="34" charset="-122"/>
                <a:cs typeface="Calibri" pitchFamily="34" charset="-120"/>
              </a:rPr>
              <a:t>Tasks Submitted</a:t>
            </a:r>
            <a:endParaRPr lang="en-US" sz="1100" dirty="0"/>
          </a:p>
          <a:p>
            <a:pPr algn="ctr" indent="0" marL="0">
              <a:lnSpc>
                <a:spcPct val="115000"/>
              </a:lnSpc>
              <a:buNone/>
            </a:pPr>
            <a:r>
              <a:rPr lang="en-US" sz="1100" dirty="0">
                <a:solidFill>
                  <a:srgbClr val="CADCFC"/>
                </a:solidFill>
                <a:latin typeface="Calibri" pitchFamily="34" charset="0"/>
                <a:ea typeface="Calibri" pitchFamily="34" charset="-122"/>
                <a:cs typeface="Calibri" pitchFamily="34" charset="-120"/>
              </a:rPr>
              <a:t>On Track</a:t>
            </a:r>
            <a:endParaRPr lang="en-US" sz="1100" dirty="0"/>
          </a:p>
        </p:txBody>
      </p:sp>
      <p:sp>
        <p:nvSpPr>
          <p:cNvPr id="16" name="Text 13"/>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Thiranex Data Analytics Internship  •  Amit Kushwaha</a:t>
            </a:r>
            <a:endParaRPr lang="en-US" sz="900" dirty="0"/>
          </a:p>
        </p:txBody>
      </p:sp>
      <p:sp>
        <p:nvSpPr>
          <p:cNvPr id="17" name="Text 1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4.3</a:t>
            </a:r>
            <a:endParaRPr lang="en-US" sz="1300" dirty="0"/>
          </a:p>
        </p:txBody>
      </p:sp>
      <p:sp>
        <p:nvSpPr>
          <p:cNvPr id="3" name="Text 1"/>
          <p:cNvSpPr/>
          <p:nvPr/>
        </p:nvSpPr>
        <p:spPr>
          <a:xfrm>
            <a:off x="640080" y="713232"/>
            <a:ext cx="1051560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640080" y="1691640"/>
            <a:ext cx="10881360" cy="1554480"/>
          </a:xfrm>
          <a:prstGeom prst="roundRect">
            <a:avLst>
              <a:gd name="adj" fmla="val 5882"/>
            </a:avLst>
          </a:prstGeom>
          <a:solidFill>
            <a:srgbClr val="F4F6FB"/>
          </a:solidFill>
          <a:ln/>
        </p:spPr>
      </p:sp>
      <p:pic>
        <p:nvPicPr>
          <p:cNvPr id="5" name="Image 0" descr="icon_problem.png">    </p:cNvPr>
          <p:cNvPicPr>
            <a:picLocks noChangeAspect="1"/>
          </p:cNvPicPr>
          <p:nvPr/>
        </p:nvPicPr>
        <p:blipFill>
          <a:blip r:embed="rId1"/>
          <a:stretch>
            <a:fillRect/>
          </a:stretch>
        </p:blipFill>
        <p:spPr>
          <a:xfrm>
            <a:off x="914400" y="1965960"/>
            <a:ext cx="566928" cy="566928"/>
          </a:xfrm>
          <a:prstGeom prst="rect">
            <a:avLst/>
          </a:prstGeom>
        </p:spPr>
      </p:pic>
      <p:sp>
        <p:nvSpPr>
          <p:cNvPr id="6" name="Text 3"/>
          <p:cNvSpPr/>
          <p:nvPr/>
        </p:nvSpPr>
        <p:spPr>
          <a:xfrm>
            <a:off x="1691640" y="1828800"/>
            <a:ext cx="9601200" cy="1280160"/>
          </a:xfrm>
          <a:prstGeom prst="rect">
            <a:avLst/>
          </a:prstGeom>
          <a:noFill/>
          <a:ln/>
        </p:spPr>
        <p:txBody>
          <a:bodyPr wrap="square" rtlCol="0" anchor="ctr"/>
          <a:lstStyle/>
          <a:p>
            <a:pPr indent="0" marL="0">
              <a:lnSpc>
                <a:spcPct val="130000"/>
              </a:lnSpc>
              <a:buNone/>
            </a:pPr>
            <a:r>
              <a:rPr lang="en-US" sz="1300" dirty="0">
                <a:solidFill>
                  <a:srgbClr val="22273A"/>
                </a:solidFill>
                <a:latin typeface="Calibri" pitchFamily="34" charset="0"/>
                <a:ea typeface="Calibri" pitchFamily="34" charset="-122"/>
                <a:cs typeface="Calibri" pitchFamily="34" charset="-120"/>
              </a:rPr>
              <a:t>Business data is often spread across multiple sources, inconsistent, or difficult to interpret in raw form — making it hard for organizations to draw timely insights, while still needing methods that summarise performance, segment customers, forecast trends, and keep reporting reliable.</a:t>
            </a:r>
            <a:endParaRPr lang="en-US" sz="1300" dirty="0"/>
          </a:p>
        </p:txBody>
      </p:sp>
      <p:sp>
        <p:nvSpPr>
          <p:cNvPr id="7" name="Text 4"/>
          <p:cNvSpPr/>
          <p:nvPr/>
        </p:nvSpPr>
        <p:spPr>
          <a:xfrm>
            <a:off x="640080" y="3520440"/>
            <a:ext cx="914400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internship addressed this through four connected problems:</a:t>
            </a:r>
            <a:endParaRPr lang="en-US" sz="1300" dirty="0"/>
          </a:p>
        </p:txBody>
      </p:sp>
      <p:sp>
        <p:nvSpPr>
          <p:cNvPr id="8" name="Shape 5"/>
          <p:cNvSpPr/>
          <p:nvPr/>
        </p:nvSpPr>
        <p:spPr>
          <a:xfrm>
            <a:off x="640080" y="4050792"/>
            <a:ext cx="256032" cy="256032"/>
          </a:xfrm>
          <a:prstGeom prst="ellipse">
            <a:avLst/>
          </a:prstGeom>
          <a:solidFill>
            <a:srgbClr val="1C7293"/>
          </a:solidFill>
          <a:ln/>
        </p:spPr>
      </p:sp>
      <p:sp>
        <p:nvSpPr>
          <p:cNvPr id="9" name="Text 6"/>
          <p:cNvSpPr/>
          <p:nvPr/>
        </p:nvSpPr>
        <p:spPr>
          <a:xfrm>
            <a:off x="640080" y="403250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p:nvPr/>
        </p:nvSpPr>
        <p:spPr>
          <a:xfrm>
            <a:off x="1051560" y="4023360"/>
            <a:ext cx="10241280" cy="457200"/>
          </a:xfrm>
          <a:prstGeom prst="rect">
            <a:avLst/>
          </a:prstGeom>
          <a:noFill/>
          <a:ln/>
        </p:spPr>
        <p:txBody>
          <a:bodyPr wrap="square" rtlCol="0" anchor="ctr"/>
          <a:lstStyle/>
          <a:p>
            <a:pPr indent="0" marL="0">
              <a:buNone/>
            </a:pPr>
            <a:r>
              <a:rPr lang="en-US" sz="1250" dirty="0">
                <a:solidFill>
                  <a:srgbClr val="22273A"/>
                </a:solidFill>
                <a:latin typeface="Calibri" pitchFamily="34" charset="0"/>
                <a:ea typeface="Calibri" pitchFamily="34" charset="-122"/>
                <a:cs typeface="Calibri" pitchFamily="34" charset="-120"/>
              </a:rPr>
              <a:t>Preparing and visualising raw sales data on an interactive dashboard</a:t>
            </a:r>
            <a:endParaRPr lang="en-US" sz="1250" dirty="0"/>
          </a:p>
        </p:txBody>
      </p:sp>
      <p:sp>
        <p:nvSpPr>
          <p:cNvPr id="11" name="Shape 8"/>
          <p:cNvSpPr/>
          <p:nvPr/>
        </p:nvSpPr>
        <p:spPr>
          <a:xfrm>
            <a:off x="640080" y="4617720"/>
            <a:ext cx="256032" cy="256032"/>
          </a:xfrm>
          <a:prstGeom prst="ellipse">
            <a:avLst/>
          </a:prstGeom>
          <a:solidFill>
            <a:srgbClr val="1C7293"/>
          </a:solidFill>
          <a:ln/>
        </p:spPr>
      </p:sp>
      <p:sp>
        <p:nvSpPr>
          <p:cNvPr id="12" name="Text 9"/>
          <p:cNvSpPr/>
          <p:nvPr/>
        </p:nvSpPr>
        <p:spPr>
          <a:xfrm>
            <a:off x="640080" y="4599432"/>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1051560" y="4590288"/>
            <a:ext cx="10241280" cy="457200"/>
          </a:xfrm>
          <a:prstGeom prst="rect">
            <a:avLst/>
          </a:prstGeom>
          <a:noFill/>
          <a:ln/>
        </p:spPr>
        <p:txBody>
          <a:bodyPr wrap="square" rtlCol="0" anchor="ctr"/>
          <a:lstStyle/>
          <a:p>
            <a:pPr indent="0" marL="0">
              <a:buNone/>
            </a:pPr>
            <a:r>
              <a:rPr lang="en-US" sz="1250" dirty="0">
                <a:solidFill>
                  <a:srgbClr val="22273A"/>
                </a:solidFill>
                <a:latin typeface="Calibri" pitchFamily="34" charset="0"/>
                <a:ea typeface="Calibri" pitchFamily="34" charset="-122"/>
                <a:cs typeface="Calibri" pitchFamily="34" charset="-120"/>
              </a:rPr>
              <a:t>Segmenting customers using behavioural and demographic attributes</a:t>
            </a:r>
            <a:endParaRPr lang="en-US" sz="1250" dirty="0"/>
          </a:p>
        </p:txBody>
      </p:sp>
      <p:sp>
        <p:nvSpPr>
          <p:cNvPr id="14" name="Shape 11"/>
          <p:cNvSpPr/>
          <p:nvPr/>
        </p:nvSpPr>
        <p:spPr>
          <a:xfrm>
            <a:off x="640080" y="5184648"/>
            <a:ext cx="256032" cy="256032"/>
          </a:xfrm>
          <a:prstGeom prst="ellipse">
            <a:avLst/>
          </a:prstGeom>
          <a:solidFill>
            <a:srgbClr val="1C7293"/>
          </a:solidFill>
          <a:ln/>
        </p:spPr>
      </p:sp>
      <p:sp>
        <p:nvSpPr>
          <p:cNvPr id="15" name="Text 12"/>
          <p:cNvSpPr/>
          <p:nvPr/>
        </p:nvSpPr>
        <p:spPr>
          <a:xfrm>
            <a:off x="640080" y="516636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3"/>
          <p:cNvSpPr/>
          <p:nvPr/>
        </p:nvSpPr>
        <p:spPr>
          <a:xfrm>
            <a:off x="1051560" y="5157216"/>
            <a:ext cx="10241280" cy="457200"/>
          </a:xfrm>
          <a:prstGeom prst="rect">
            <a:avLst/>
          </a:prstGeom>
          <a:noFill/>
          <a:ln/>
        </p:spPr>
        <p:txBody>
          <a:bodyPr wrap="square" rtlCol="0" anchor="ctr"/>
          <a:lstStyle/>
          <a:p>
            <a:pPr indent="0" marL="0">
              <a:buNone/>
            </a:pPr>
            <a:r>
              <a:rPr lang="en-US" sz="1250" dirty="0">
                <a:solidFill>
                  <a:srgbClr val="22273A"/>
                </a:solidFill>
                <a:latin typeface="Calibri" pitchFamily="34" charset="0"/>
                <a:ea typeface="Calibri" pitchFamily="34" charset="-122"/>
                <a:cs typeface="Calibri" pitchFamily="34" charset="-120"/>
              </a:rPr>
              <a:t>Forecasting future trends from historical, time-based data</a:t>
            </a:r>
            <a:endParaRPr lang="en-US" sz="1250" dirty="0"/>
          </a:p>
        </p:txBody>
      </p:sp>
      <p:sp>
        <p:nvSpPr>
          <p:cNvPr id="17" name="Shape 14"/>
          <p:cNvSpPr/>
          <p:nvPr/>
        </p:nvSpPr>
        <p:spPr>
          <a:xfrm>
            <a:off x="640080" y="5751576"/>
            <a:ext cx="256032" cy="256032"/>
          </a:xfrm>
          <a:prstGeom prst="ellipse">
            <a:avLst/>
          </a:prstGeom>
          <a:solidFill>
            <a:srgbClr val="1C7293"/>
          </a:solidFill>
          <a:ln/>
        </p:spPr>
      </p:sp>
      <p:sp>
        <p:nvSpPr>
          <p:cNvPr id="18" name="Text 15"/>
          <p:cNvSpPr/>
          <p:nvPr/>
        </p:nvSpPr>
        <p:spPr>
          <a:xfrm>
            <a:off x="640080" y="5733288"/>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6"/>
          <p:cNvSpPr/>
          <p:nvPr/>
        </p:nvSpPr>
        <p:spPr>
          <a:xfrm>
            <a:off x="1051560" y="5724144"/>
            <a:ext cx="10241280" cy="457200"/>
          </a:xfrm>
          <a:prstGeom prst="rect">
            <a:avLst/>
          </a:prstGeom>
          <a:noFill/>
          <a:ln/>
        </p:spPr>
        <p:txBody>
          <a:bodyPr wrap="square" rtlCol="0" anchor="ctr"/>
          <a:lstStyle/>
          <a:p>
            <a:pPr indent="0" marL="0">
              <a:buNone/>
            </a:pPr>
            <a:r>
              <a:rPr lang="en-US" sz="1250" dirty="0">
                <a:solidFill>
                  <a:srgbClr val="22273A"/>
                </a:solidFill>
                <a:latin typeface="Calibri" pitchFamily="34" charset="0"/>
                <a:ea typeface="Calibri" pitchFamily="34" charset="-122"/>
                <a:cs typeface="Calibri" pitchFamily="34" charset="-120"/>
              </a:rPr>
              <a:t>Automating the data cleaning and reporting workflow to cut manual effort</a:t>
            </a:r>
            <a:endParaRPr lang="en-US" sz="1250" dirty="0"/>
          </a:p>
        </p:txBody>
      </p:sp>
      <p:sp>
        <p:nvSpPr>
          <p:cNvPr id="20" name="Text 17"/>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Thiranex Data Analytics Internship  •  Amit Kushwaha</a:t>
            </a:r>
            <a:endParaRPr lang="en-US" sz="900" dirty="0"/>
          </a:p>
        </p:txBody>
      </p:sp>
      <p:sp>
        <p:nvSpPr>
          <p:cNvPr id="21" name="Text 1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4.4</a:t>
            </a:r>
            <a:endParaRPr lang="en-US" sz="1300" dirty="0"/>
          </a:p>
        </p:txBody>
      </p:sp>
      <p:sp>
        <p:nvSpPr>
          <p:cNvPr id="3" name="Text 1"/>
          <p:cNvSpPr/>
          <p:nvPr/>
        </p:nvSpPr>
        <p:spPr>
          <a:xfrm>
            <a:off x="640080" y="713232"/>
            <a:ext cx="1051560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640080" y="1691640"/>
            <a:ext cx="5257800" cy="768096"/>
          </a:xfrm>
          <a:prstGeom prst="roundRect">
            <a:avLst>
              <a:gd name="adj" fmla="val 9524"/>
            </a:avLst>
          </a:prstGeom>
          <a:solidFill>
            <a:srgbClr val="F4F6FB"/>
          </a:solidFill>
          <a:ln/>
        </p:spPr>
      </p:sp>
      <p:sp>
        <p:nvSpPr>
          <p:cNvPr id="5" name="Shape 3"/>
          <p:cNvSpPr/>
          <p:nvPr/>
        </p:nvSpPr>
        <p:spPr>
          <a:xfrm>
            <a:off x="804672" y="1865376"/>
            <a:ext cx="420624" cy="420624"/>
          </a:xfrm>
          <a:prstGeom prst="ellipse">
            <a:avLst/>
          </a:prstGeom>
          <a:solidFill>
            <a:srgbClr val="1E2761"/>
          </a:solidFill>
          <a:ln/>
        </p:spPr>
      </p:sp>
      <p:sp>
        <p:nvSpPr>
          <p:cNvPr id="6" name="Text 4"/>
          <p:cNvSpPr/>
          <p:nvPr/>
        </p:nvSpPr>
        <p:spPr>
          <a:xfrm>
            <a:off x="804672" y="1865376"/>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53312" y="1746504"/>
            <a:ext cx="4389120" cy="658368"/>
          </a:xfrm>
          <a:prstGeom prst="rect">
            <a:avLst/>
          </a:prstGeom>
          <a:noFill/>
          <a:ln/>
        </p:spPr>
        <p:txBody>
          <a:bodyPr wrap="square" rtlCol="0" anchor="ctr"/>
          <a:lstStyle/>
          <a:p>
            <a:pPr indent="0" marL="0">
              <a:lnSpc>
                <a:spcPct val="110000"/>
              </a:lnSpc>
              <a:buNone/>
            </a:pPr>
            <a:r>
              <a:rPr lang="en-US" sz="1150" dirty="0">
                <a:solidFill>
                  <a:srgbClr val="22273A"/>
                </a:solidFill>
                <a:latin typeface="Calibri" pitchFamily="34" charset="0"/>
                <a:ea typeface="Calibri" pitchFamily="34" charset="-122"/>
                <a:cs typeface="Calibri" pitchFamily="34" charset="-120"/>
              </a:rPr>
              <a:t>Understand the workflow of a business analytics dashboard</a:t>
            </a:r>
            <a:endParaRPr lang="en-US" sz="1150" dirty="0"/>
          </a:p>
        </p:txBody>
      </p:sp>
      <p:sp>
        <p:nvSpPr>
          <p:cNvPr id="8" name="Shape 6"/>
          <p:cNvSpPr/>
          <p:nvPr/>
        </p:nvSpPr>
        <p:spPr>
          <a:xfrm>
            <a:off x="640080" y="2587752"/>
            <a:ext cx="5257800" cy="768096"/>
          </a:xfrm>
          <a:prstGeom prst="roundRect">
            <a:avLst>
              <a:gd name="adj" fmla="val 9524"/>
            </a:avLst>
          </a:prstGeom>
          <a:solidFill>
            <a:srgbClr val="F4F6FB"/>
          </a:solidFill>
          <a:ln/>
        </p:spPr>
      </p:sp>
      <p:sp>
        <p:nvSpPr>
          <p:cNvPr id="9" name="Shape 7"/>
          <p:cNvSpPr/>
          <p:nvPr/>
        </p:nvSpPr>
        <p:spPr>
          <a:xfrm>
            <a:off x="804672" y="2761488"/>
            <a:ext cx="420624" cy="420624"/>
          </a:xfrm>
          <a:prstGeom prst="ellipse">
            <a:avLst/>
          </a:prstGeom>
          <a:solidFill>
            <a:srgbClr val="1C7293"/>
          </a:solidFill>
          <a:ln/>
        </p:spPr>
      </p:sp>
      <p:sp>
        <p:nvSpPr>
          <p:cNvPr id="10" name="Text 8"/>
          <p:cNvSpPr/>
          <p:nvPr/>
        </p:nvSpPr>
        <p:spPr>
          <a:xfrm>
            <a:off x="804672" y="2761488"/>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353312" y="2642616"/>
            <a:ext cx="4389120" cy="658368"/>
          </a:xfrm>
          <a:prstGeom prst="rect">
            <a:avLst/>
          </a:prstGeom>
          <a:noFill/>
          <a:ln/>
        </p:spPr>
        <p:txBody>
          <a:bodyPr wrap="square" rtlCol="0" anchor="ctr"/>
          <a:lstStyle/>
          <a:p>
            <a:pPr indent="0" marL="0">
              <a:lnSpc>
                <a:spcPct val="110000"/>
              </a:lnSpc>
              <a:buNone/>
            </a:pPr>
            <a:r>
              <a:rPr lang="en-US" sz="1150" dirty="0">
                <a:solidFill>
                  <a:srgbClr val="22273A"/>
                </a:solidFill>
                <a:latin typeface="Calibri" pitchFamily="34" charset="0"/>
                <a:ea typeface="Calibri" pitchFamily="34" charset="-122"/>
                <a:cs typeface="Calibri" pitchFamily="34" charset="-120"/>
              </a:rPr>
              <a:t>Import and consolidate sales &amp; revenue data</a:t>
            </a:r>
            <a:endParaRPr lang="en-US" sz="1150" dirty="0"/>
          </a:p>
        </p:txBody>
      </p:sp>
      <p:sp>
        <p:nvSpPr>
          <p:cNvPr id="12" name="Shape 10"/>
          <p:cNvSpPr/>
          <p:nvPr/>
        </p:nvSpPr>
        <p:spPr>
          <a:xfrm>
            <a:off x="640080" y="3483864"/>
            <a:ext cx="5257800" cy="768096"/>
          </a:xfrm>
          <a:prstGeom prst="roundRect">
            <a:avLst>
              <a:gd name="adj" fmla="val 9524"/>
            </a:avLst>
          </a:prstGeom>
          <a:solidFill>
            <a:srgbClr val="F4F6FB"/>
          </a:solidFill>
          <a:ln/>
        </p:spPr>
      </p:sp>
      <p:sp>
        <p:nvSpPr>
          <p:cNvPr id="13" name="Shape 11"/>
          <p:cNvSpPr/>
          <p:nvPr/>
        </p:nvSpPr>
        <p:spPr>
          <a:xfrm>
            <a:off x="804672" y="3657600"/>
            <a:ext cx="420624" cy="420624"/>
          </a:xfrm>
          <a:prstGeom prst="ellipse">
            <a:avLst/>
          </a:prstGeom>
          <a:solidFill>
            <a:srgbClr val="1E2761"/>
          </a:solidFill>
          <a:ln/>
        </p:spPr>
      </p:sp>
      <p:sp>
        <p:nvSpPr>
          <p:cNvPr id="14" name="Text 12"/>
          <p:cNvSpPr/>
          <p:nvPr/>
        </p:nvSpPr>
        <p:spPr>
          <a:xfrm>
            <a:off x="804672" y="3657600"/>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353312" y="3538728"/>
            <a:ext cx="4389120" cy="658368"/>
          </a:xfrm>
          <a:prstGeom prst="rect">
            <a:avLst/>
          </a:prstGeom>
          <a:noFill/>
          <a:ln/>
        </p:spPr>
        <p:txBody>
          <a:bodyPr wrap="square" rtlCol="0" anchor="ctr"/>
          <a:lstStyle/>
          <a:p>
            <a:pPr indent="0" marL="0">
              <a:lnSpc>
                <a:spcPct val="110000"/>
              </a:lnSpc>
              <a:buNone/>
            </a:pPr>
            <a:r>
              <a:rPr lang="en-US" sz="1150" dirty="0">
                <a:solidFill>
                  <a:srgbClr val="22273A"/>
                </a:solidFill>
                <a:latin typeface="Calibri" pitchFamily="34" charset="0"/>
                <a:ea typeface="Calibri" pitchFamily="34" charset="-122"/>
                <a:cs typeface="Calibri" pitchFamily="34" charset="-120"/>
              </a:rPr>
              <a:t>Visualise KPIs with charts, filters and slicers</a:t>
            </a:r>
            <a:endParaRPr lang="en-US" sz="1150" dirty="0"/>
          </a:p>
        </p:txBody>
      </p:sp>
      <p:sp>
        <p:nvSpPr>
          <p:cNvPr id="16" name="Shape 14"/>
          <p:cNvSpPr/>
          <p:nvPr/>
        </p:nvSpPr>
        <p:spPr>
          <a:xfrm>
            <a:off x="640080" y="4379976"/>
            <a:ext cx="5257800" cy="768096"/>
          </a:xfrm>
          <a:prstGeom prst="roundRect">
            <a:avLst>
              <a:gd name="adj" fmla="val 9524"/>
            </a:avLst>
          </a:prstGeom>
          <a:solidFill>
            <a:srgbClr val="F4F6FB"/>
          </a:solidFill>
          <a:ln/>
        </p:spPr>
      </p:sp>
      <p:sp>
        <p:nvSpPr>
          <p:cNvPr id="17" name="Shape 15"/>
          <p:cNvSpPr/>
          <p:nvPr/>
        </p:nvSpPr>
        <p:spPr>
          <a:xfrm>
            <a:off x="804672" y="4553712"/>
            <a:ext cx="420624" cy="420624"/>
          </a:xfrm>
          <a:prstGeom prst="ellipse">
            <a:avLst/>
          </a:prstGeom>
          <a:solidFill>
            <a:srgbClr val="1C7293"/>
          </a:solidFill>
          <a:ln/>
        </p:spPr>
      </p:sp>
      <p:sp>
        <p:nvSpPr>
          <p:cNvPr id="18" name="Text 16"/>
          <p:cNvSpPr/>
          <p:nvPr/>
        </p:nvSpPr>
        <p:spPr>
          <a:xfrm>
            <a:off x="804672" y="4553712"/>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353312" y="4434840"/>
            <a:ext cx="4389120" cy="658368"/>
          </a:xfrm>
          <a:prstGeom prst="rect">
            <a:avLst/>
          </a:prstGeom>
          <a:noFill/>
          <a:ln/>
        </p:spPr>
        <p:txBody>
          <a:bodyPr wrap="square" rtlCol="0" anchor="ctr"/>
          <a:lstStyle/>
          <a:p>
            <a:pPr indent="0" marL="0">
              <a:lnSpc>
                <a:spcPct val="110000"/>
              </a:lnSpc>
              <a:buNone/>
            </a:pPr>
            <a:r>
              <a:rPr lang="en-US" sz="1150" dirty="0">
                <a:solidFill>
                  <a:srgbClr val="22273A"/>
                </a:solidFill>
                <a:latin typeface="Calibri" pitchFamily="34" charset="0"/>
                <a:ea typeface="Calibri" pitchFamily="34" charset="-122"/>
                <a:cs typeface="Calibri" pitchFamily="34" charset="-120"/>
              </a:rPr>
              <a:t>Segment customers using clustering techniques</a:t>
            </a:r>
            <a:endParaRPr lang="en-US" sz="1150" dirty="0"/>
          </a:p>
        </p:txBody>
      </p:sp>
      <p:sp>
        <p:nvSpPr>
          <p:cNvPr id="20" name="Shape 18"/>
          <p:cNvSpPr/>
          <p:nvPr/>
        </p:nvSpPr>
        <p:spPr>
          <a:xfrm>
            <a:off x="640080" y="5276088"/>
            <a:ext cx="5257800" cy="768096"/>
          </a:xfrm>
          <a:prstGeom prst="roundRect">
            <a:avLst>
              <a:gd name="adj" fmla="val 9524"/>
            </a:avLst>
          </a:prstGeom>
          <a:solidFill>
            <a:srgbClr val="F4F6FB"/>
          </a:solidFill>
          <a:ln/>
        </p:spPr>
      </p:sp>
      <p:sp>
        <p:nvSpPr>
          <p:cNvPr id="21" name="Shape 19"/>
          <p:cNvSpPr/>
          <p:nvPr/>
        </p:nvSpPr>
        <p:spPr>
          <a:xfrm>
            <a:off x="804672" y="5449824"/>
            <a:ext cx="420624" cy="420624"/>
          </a:xfrm>
          <a:prstGeom prst="ellipse">
            <a:avLst/>
          </a:prstGeom>
          <a:solidFill>
            <a:srgbClr val="1E2761"/>
          </a:solidFill>
          <a:ln/>
        </p:spPr>
      </p:sp>
      <p:sp>
        <p:nvSpPr>
          <p:cNvPr id="22" name="Text 20"/>
          <p:cNvSpPr/>
          <p:nvPr/>
        </p:nvSpPr>
        <p:spPr>
          <a:xfrm>
            <a:off x="804672" y="544982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353312" y="5330952"/>
            <a:ext cx="4389120" cy="658368"/>
          </a:xfrm>
          <a:prstGeom prst="rect">
            <a:avLst/>
          </a:prstGeom>
          <a:noFill/>
          <a:ln/>
        </p:spPr>
        <p:txBody>
          <a:bodyPr wrap="square" rtlCol="0" anchor="ctr"/>
          <a:lstStyle/>
          <a:p>
            <a:pPr indent="0" marL="0">
              <a:lnSpc>
                <a:spcPct val="110000"/>
              </a:lnSpc>
              <a:buNone/>
            </a:pPr>
            <a:r>
              <a:rPr lang="en-US" sz="1150" dirty="0">
                <a:solidFill>
                  <a:srgbClr val="22273A"/>
                </a:solidFill>
                <a:latin typeface="Calibri" pitchFamily="34" charset="0"/>
                <a:ea typeface="Calibri" pitchFamily="34" charset="-122"/>
                <a:cs typeface="Calibri" pitchFamily="34" charset="-120"/>
              </a:rPr>
              <a:t>Analyse purchase patterns and preferences</a:t>
            </a:r>
            <a:endParaRPr lang="en-US" sz="1150" dirty="0"/>
          </a:p>
        </p:txBody>
      </p:sp>
      <p:sp>
        <p:nvSpPr>
          <p:cNvPr id="24" name="Shape 22"/>
          <p:cNvSpPr/>
          <p:nvPr/>
        </p:nvSpPr>
        <p:spPr>
          <a:xfrm>
            <a:off x="6263640" y="1691640"/>
            <a:ext cx="5257800" cy="768096"/>
          </a:xfrm>
          <a:prstGeom prst="roundRect">
            <a:avLst>
              <a:gd name="adj" fmla="val 9524"/>
            </a:avLst>
          </a:prstGeom>
          <a:solidFill>
            <a:srgbClr val="F4F6FB"/>
          </a:solidFill>
          <a:ln/>
        </p:spPr>
      </p:sp>
      <p:sp>
        <p:nvSpPr>
          <p:cNvPr id="25" name="Shape 23"/>
          <p:cNvSpPr/>
          <p:nvPr/>
        </p:nvSpPr>
        <p:spPr>
          <a:xfrm>
            <a:off x="6428232" y="1865376"/>
            <a:ext cx="420624" cy="420624"/>
          </a:xfrm>
          <a:prstGeom prst="ellipse">
            <a:avLst/>
          </a:prstGeom>
          <a:solidFill>
            <a:srgbClr val="1C7293"/>
          </a:solidFill>
          <a:ln/>
        </p:spPr>
      </p:sp>
      <p:sp>
        <p:nvSpPr>
          <p:cNvPr id="26" name="Text 24"/>
          <p:cNvSpPr/>
          <p:nvPr/>
        </p:nvSpPr>
        <p:spPr>
          <a:xfrm>
            <a:off x="6428232" y="1865376"/>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6976872" y="1746504"/>
            <a:ext cx="4389120" cy="658368"/>
          </a:xfrm>
          <a:prstGeom prst="rect">
            <a:avLst/>
          </a:prstGeom>
          <a:noFill/>
          <a:ln/>
        </p:spPr>
        <p:txBody>
          <a:bodyPr wrap="square" rtlCol="0" anchor="ctr"/>
          <a:lstStyle/>
          <a:p>
            <a:pPr indent="0" marL="0">
              <a:lnSpc>
                <a:spcPct val="110000"/>
              </a:lnSpc>
              <a:buNone/>
            </a:pPr>
            <a:r>
              <a:rPr lang="en-US" sz="1150" dirty="0">
                <a:solidFill>
                  <a:srgbClr val="22273A"/>
                </a:solidFill>
                <a:latin typeface="Calibri" pitchFamily="34" charset="0"/>
                <a:ea typeface="Calibri" pitchFamily="34" charset="-122"/>
                <a:cs typeface="Calibri" pitchFamily="34" charset="-120"/>
              </a:rPr>
              <a:t>Build predictive models (regression / time-series)</a:t>
            </a:r>
            <a:endParaRPr lang="en-US" sz="1150" dirty="0"/>
          </a:p>
        </p:txBody>
      </p:sp>
      <p:sp>
        <p:nvSpPr>
          <p:cNvPr id="28" name="Shape 26"/>
          <p:cNvSpPr/>
          <p:nvPr/>
        </p:nvSpPr>
        <p:spPr>
          <a:xfrm>
            <a:off x="6263640" y="2587752"/>
            <a:ext cx="5257800" cy="768096"/>
          </a:xfrm>
          <a:prstGeom prst="roundRect">
            <a:avLst>
              <a:gd name="adj" fmla="val 9524"/>
            </a:avLst>
          </a:prstGeom>
          <a:solidFill>
            <a:srgbClr val="F4F6FB"/>
          </a:solidFill>
          <a:ln/>
        </p:spPr>
      </p:sp>
      <p:sp>
        <p:nvSpPr>
          <p:cNvPr id="29" name="Shape 27"/>
          <p:cNvSpPr/>
          <p:nvPr/>
        </p:nvSpPr>
        <p:spPr>
          <a:xfrm>
            <a:off x="6428232" y="2761488"/>
            <a:ext cx="420624" cy="420624"/>
          </a:xfrm>
          <a:prstGeom prst="ellipse">
            <a:avLst/>
          </a:prstGeom>
          <a:solidFill>
            <a:srgbClr val="1E2761"/>
          </a:solidFill>
          <a:ln/>
        </p:spPr>
      </p:sp>
      <p:sp>
        <p:nvSpPr>
          <p:cNvPr id="30" name="Text 28"/>
          <p:cNvSpPr/>
          <p:nvPr/>
        </p:nvSpPr>
        <p:spPr>
          <a:xfrm>
            <a:off x="6428232" y="2761488"/>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6976872" y="2642616"/>
            <a:ext cx="4389120" cy="658368"/>
          </a:xfrm>
          <a:prstGeom prst="rect">
            <a:avLst/>
          </a:prstGeom>
          <a:noFill/>
          <a:ln/>
        </p:spPr>
        <p:txBody>
          <a:bodyPr wrap="square" rtlCol="0" anchor="ctr"/>
          <a:lstStyle/>
          <a:p>
            <a:pPr indent="0" marL="0">
              <a:lnSpc>
                <a:spcPct val="110000"/>
              </a:lnSpc>
              <a:buNone/>
            </a:pPr>
            <a:r>
              <a:rPr lang="en-US" sz="1150" dirty="0">
                <a:solidFill>
                  <a:srgbClr val="22273A"/>
                </a:solidFill>
                <a:latin typeface="Calibri" pitchFamily="34" charset="0"/>
                <a:ea typeface="Calibri" pitchFamily="34" charset="-122"/>
                <a:cs typeface="Calibri" pitchFamily="34" charset="-120"/>
              </a:rPr>
              <a:t>Clean and preprocess historical datasets</a:t>
            </a:r>
            <a:endParaRPr lang="en-US" sz="1150" dirty="0"/>
          </a:p>
        </p:txBody>
      </p:sp>
      <p:sp>
        <p:nvSpPr>
          <p:cNvPr id="32" name="Shape 30"/>
          <p:cNvSpPr/>
          <p:nvPr/>
        </p:nvSpPr>
        <p:spPr>
          <a:xfrm>
            <a:off x="6263640" y="3483864"/>
            <a:ext cx="5257800" cy="768096"/>
          </a:xfrm>
          <a:prstGeom prst="roundRect">
            <a:avLst>
              <a:gd name="adj" fmla="val 9524"/>
            </a:avLst>
          </a:prstGeom>
          <a:solidFill>
            <a:srgbClr val="F4F6FB"/>
          </a:solidFill>
          <a:ln/>
        </p:spPr>
      </p:sp>
      <p:sp>
        <p:nvSpPr>
          <p:cNvPr id="33" name="Shape 31"/>
          <p:cNvSpPr/>
          <p:nvPr/>
        </p:nvSpPr>
        <p:spPr>
          <a:xfrm>
            <a:off x="6428232" y="3657600"/>
            <a:ext cx="420624" cy="420624"/>
          </a:xfrm>
          <a:prstGeom prst="ellipse">
            <a:avLst/>
          </a:prstGeom>
          <a:solidFill>
            <a:srgbClr val="1C7293"/>
          </a:solidFill>
          <a:ln/>
        </p:spPr>
      </p:sp>
      <p:sp>
        <p:nvSpPr>
          <p:cNvPr id="34" name="Text 32"/>
          <p:cNvSpPr/>
          <p:nvPr/>
        </p:nvSpPr>
        <p:spPr>
          <a:xfrm>
            <a:off x="6428232" y="3657600"/>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5" name="Text 33"/>
          <p:cNvSpPr/>
          <p:nvPr/>
        </p:nvSpPr>
        <p:spPr>
          <a:xfrm>
            <a:off x="6976872" y="3538728"/>
            <a:ext cx="4389120" cy="658368"/>
          </a:xfrm>
          <a:prstGeom prst="rect">
            <a:avLst/>
          </a:prstGeom>
          <a:noFill/>
          <a:ln/>
        </p:spPr>
        <p:txBody>
          <a:bodyPr wrap="square" rtlCol="0" anchor="ctr"/>
          <a:lstStyle/>
          <a:p>
            <a:pPr indent="0" marL="0">
              <a:lnSpc>
                <a:spcPct val="110000"/>
              </a:lnSpc>
              <a:buNone/>
            </a:pPr>
            <a:r>
              <a:rPr lang="en-US" sz="1150" dirty="0">
                <a:solidFill>
                  <a:srgbClr val="22273A"/>
                </a:solidFill>
                <a:latin typeface="Calibri" pitchFamily="34" charset="0"/>
                <a:ea typeface="Calibri" pitchFamily="34" charset="-122"/>
                <a:cs typeface="Calibri" pitchFamily="34" charset="-120"/>
              </a:rPr>
              <a:t>Evaluate model accuracy and visualise predictions</a:t>
            </a:r>
            <a:endParaRPr lang="en-US" sz="1150" dirty="0"/>
          </a:p>
        </p:txBody>
      </p:sp>
      <p:sp>
        <p:nvSpPr>
          <p:cNvPr id="36" name="Shape 34"/>
          <p:cNvSpPr/>
          <p:nvPr/>
        </p:nvSpPr>
        <p:spPr>
          <a:xfrm>
            <a:off x="6263640" y="4379976"/>
            <a:ext cx="5257800" cy="768096"/>
          </a:xfrm>
          <a:prstGeom prst="roundRect">
            <a:avLst>
              <a:gd name="adj" fmla="val 9524"/>
            </a:avLst>
          </a:prstGeom>
          <a:solidFill>
            <a:srgbClr val="F4F6FB"/>
          </a:solidFill>
          <a:ln/>
        </p:spPr>
      </p:sp>
      <p:sp>
        <p:nvSpPr>
          <p:cNvPr id="37" name="Shape 35"/>
          <p:cNvSpPr/>
          <p:nvPr/>
        </p:nvSpPr>
        <p:spPr>
          <a:xfrm>
            <a:off x="6428232" y="4553712"/>
            <a:ext cx="420624" cy="420624"/>
          </a:xfrm>
          <a:prstGeom prst="ellipse">
            <a:avLst/>
          </a:prstGeom>
          <a:solidFill>
            <a:srgbClr val="1E2761"/>
          </a:solidFill>
          <a:ln/>
        </p:spPr>
      </p:sp>
      <p:sp>
        <p:nvSpPr>
          <p:cNvPr id="38" name="Text 36"/>
          <p:cNvSpPr/>
          <p:nvPr/>
        </p:nvSpPr>
        <p:spPr>
          <a:xfrm>
            <a:off x="6428232" y="4553712"/>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9" name="Text 37"/>
          <p:cNvSpPr/>
          <p:nvPr/>
        </p:nvSpPr>
        <p:spPr>
          <a:xfrm>
            <a:off x="6976872" y="4434840"/>
            <a:ext cx="4389120" cy="658368"/>
          </a:xfrm>
          <a:prstGeom prst="rect">
            <a:avLst/>
          </a:prstGeom>
          <a:noFill/>
          <a:ln/>
        </p:spPr>
        <p:txBody>
          <a:bodyPr wrap="square" rtlCol="0" anchor="ctr"/>
          <a:lstStyle/>
          <a:p>
            <a:pPr indent="0" marL="0">
              <a:lnSpc>
                <a:spcPct val="110000"/>
              </a:lnSpc>
              <a:buNone/>
            </a:pPr>
            <a:r>
              <a:rPr lang="en-US" sz="1150" dirty="0">
                <a:solidFill>
                  <a:srgbClr val="22273A"/>
                </a:solidFill>
                <a:latin typeface="Calibri" pitchFamily="34" charset="0"/>
                <a:ea typeface="Calibri" pitchFamily="34" charset="-122"/>
                <a:cs typeface="Calibri" pitchFamily="34" charset="-120"/>
              </a:rPr>
              <a:t>Automate data cleaning and reporting workflows</a:t>
            </a:r>
            <a:endParaRPr lang="en-US" sz="1150" dirty="0"/>
          </a:p>
        </p:txBody>
      </p:sp>
      <p:sp>
        <p:nvSpPr>
          <p:cNvPr id="40" name="Shape 38"/>
          <p:cNvSpPr/>
          <p:nvPr/>
        </p:nvSpPr>
        <p:spPr>
          <a:xfrm>
            <a:off x="6263640" y="5276088"/>
            <a:ext cx="5257800" cy="768096"/>
          </a:xfrm>
          <a:prstGeom prst="roundRect">
            <a:avLst>
              <a:gd name="adj" fmla="val 9524"/>
            </a:avLst>
          </a:prstGeom>
          <a:solidFill>
            <a:srgbClr val="F4F6FB"/>
          </a:solidFill>
          <a:ln/>
        </p:spPr>
      </p:sp>
      <p:sp>
        <p:nvSpPr>
          <p:cNvPr id="41" name="Shape 39"/>
          <p:cNvSpPr/>
          <p:nvPr/>
        </p:nvSpPr>
        <p:spPr>
          <a:xfrm>
            <a:off x="6428232" y="5449824"/>
            <a:ext cx="420624" cy="420624"/>
          </a:xfrm>
          <a:prstGeom prst="ellipse">
            <a:avLst/>
          </a:prstGeom>
          <a:solidFill>
            <a:srgbClr val="1C7293"/>
          </a:solidFill>
          <a:ln/>
        </p:spPr>
      </p:sp>
      <p:sp>
        <p:nvSpPr>
          <p:cNvPr id="42" name="Text 40"/>
          <p:cNvSpPr/>
          <p:nvPr/>
        </p:nvSpPr>
        <p:spPr>
          <a:xfrm>
            <a:off x="6428232" y="544982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3" name="Text 41"/>
          <p:cNvSpPr/>
          <p:nvPr/>
        </p:nvSpPr>
        <p:spPr>
          <a:xfrm>
            <a:off x="6976872" y="5330952"/>
            <a:ext cx="4389120" cy="658368"/>
          </a:xfrm>
          <a:prstGeom prst="rect">
            <a:avLst/>
          </a:prstGeom>
          <a:noFill/>
          <a:ln/>
        </p:spPr>
        <p:txBody>
          <a:bodyPr wrap="square" rtlCol="0" anchor="ctr"/>
          <a:lstStyle/>
          <a:p>
            <a:pPr indent="0" marL="0">
              <a:lnSpc>
                <a:spcPct val="110000"/>
              </a:lnSpc>
              <a:buNone/>
            </a:pPr>
            <a:r>
              <a:rPr lang="en-US" sz="1150" dirty="0">
                <a:solidFill>
                  <a:srgbClr val="22273A"/>
                </a:solidFill>
                <a:latin typeface="Calibri" pitchFamily="34" charset="0"/>
                <a:ea typeface="Calibri" pitchFamily="34" charset="-122"/>
                <a:cs typeface="Calibri" pitchFamily="34" charset="-120"/>
              </a:rPr>
              <a:t>Develop analytical thinking and reporting skills</a:t>
            </a:r>
            <a:endParaRPr lang="en-US" sz="1150" dirty="0"/>
          </a:p>
        </p:txBody>
      </p:sp>
      <p:sp>
        <p:nvSpPr>
          <p:cNvPr id="44" name="Text 42"/>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Thiranex Data Analytics Internship  •  Amit Kushwaha</a:t>
            </a:r>
            <a:endParaRPr lang="en-US" sz="900" dirty="0"/>
          </a:p>
        </p:txBody>
      </p:sp>
      <p:sp>
        <p:nvSpPr>
          <p:cNvPr id="45" name="Text 4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4.5</a:t>
            </a:r>
            <a:endParaRPr lang="en-US" sz="1300" dirty="0"/>
          </a:p>
        </p:txBody>
      </p:sp>
      <p:sp>
        <p:nvSpPr>
          <p:cNvPr id="3" name="Text 1"/>
          <p:cNvSpPr/>
          <p:nvPr/>
        </p:nvSpPr>
        <p:spPr>
          <a:xfrm>
            <a:off x="640080" y="713232"/>
            <a:ext cx="1051560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Scope of the Project</a:t>
            </a:r>
            <a:endParaRPr lang="en-US" sz="3000" dirty="0"/>
          </a:p>
        </p:txBody>
      </p:sp>
      <p:sp>
        <p:nvSpPr>
          <p:cNvPr id="4" name="Shape 2"/>
          <p:cNvSpPr/>
          <p:nvPr/>
        </p:nvSpPr>
        <p:spPr>
          <a:xfrm>
            <a:off x="640080" y="1691640"/>
            <a:ext cx="6400800" cy="4434840"/>
          </a:xfrm>
          <a:prstGeom prst="roundRect">
            <a:avLst>
              <a:gd name="adj" fmla="val 2062"/>
            </a:avLst>
          </a:prstGeom>
          <a:solidFill>
            <a:srgbClr val="F4F6FB"/>
          </a:solidFill>
          <a:ln/>
        </p:spPr>
      </p:sp>
      <p:pic>
        <p:nvPicPr>
          <p:cNvPr id="5" name="Image 0" descr="icon_scope.png">    </p:cNvPr>
          <p:cNvPicPr>
            <a:picLocks noChangeAspect="1"/>
          </p:cNvPicPr>
          <p:nvPr/>
        </p:nvPicPr>
        <p:blipFill>
          <a:blip r:embed="rId1"/>
          <a:stretch>
            <a:fillRect/>
          </a:stretch>
        </p:blipFill>
        <p:spPr>
          <a:xfrm>
            <a:off x="914400" y="1965960"/>
            <a:ext cx="548640" cy="548640"/>
          </a:xfrm>
          <a:prstGeom prst="rect">
            <a:avLst/>
          </a:prstGeom>
        </p:spPr>
      </p:pic>
      <p:sp>
        <p:nvSpPr>
          <p:cNvPr id="6" name="Text 3"/>
          <p:cNvSpPr/>
          <p:nvPr/>
        </p:nvSpPr>
        <p:spPr>
          <a:xfrm>
            <a:off x="1600200" y="2011680"/>
            <a:ext cx="521208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End-to-End Coverage</a:t>
            </a:r>
            <a:endParaRPr lang="en-US" sz="1500" dirty="0"/>
          </a:p>
        </p:txBody>
      </p:sp>
      <p:sp>
        <p:nvSpPr>
          <p:cNvPr id="7" name="Text 4"/>
          <p:cNvSpPr/>
          <p:nvPr/>
        </p:nvSpPr>
        <p:spPr>
          <a:xfrm>
            <a:off x="914400" y="2606040"/>
            <a:ext cx="5852160" cy="3383280"/>
          </a:xfrm>
          <a:prstGeom prst="rect">
            <a:avLst/>
          </a:prstGeom>
          <a:noFill/>
          <a:ln/>
        </p:spPr>
        <p:txBody>
          <a:bodyPr wrap="square" rtlCol="0" anchor="t"/>
          <a:lstStyle/>
          <a:p>
            <a:pPr indent="0" marL="0">
              <a:lnSpc>
                <a:spcPct val="135000"/>
              </a:lnSpc>
              <a:buNone/>
            </a:pPr>
            <a:r>
              <a:rPr lang="en-US" sz="1200" dirty="0">
                <a:solidFill>
                  <a:srgbClr val="22273A"/>
                </a:solidFill>
                <a:latin typeface="Calibri" pitchFamily="34" charset="0"/>
                <a:ea typeface="Calibri" pitchFamily="34" charset="-122"/>
                <a:cs typeface="Calibri" pitchFamily="34" charset="-120"/>
              </a:rPr>
              <a:t>The internship's scope spans the complete data-analytics workflow — from raw data preparation to dashboarding, segmentation, predictive analysis and automated reporting. It includes data import and cleaning, KPI visualisation, clustering-based segmentation, regression / time-series modelling, model evaluation, and automated report generation.</a:t>
            </a:r>
            <a:endParaRPr lang="en-US" sz="1200" dirty="0"/>
          </a:p>
          <a:p>
            <a:pPr indent="0" marL="0">
              <a:lnSpc>
                <a:spcPct val="135000"/>
              </a:lnSpc>
              <a:buNone/>
            </a:pPr>
            <a:endParaRPr lang="en-US" sz="1200" dirty="0"/>
          </a:p>
          <a:p>
            <a:pPr indent="0" marL="0">
              <a:lnSpc>
                <a:spcPct val="135000"/>
              </a:lnSpc>
              <a:buNone/>
            </a:pPr>
            <a:r>
              <a:rPr lang="en-US" sz="1200" dirty="0">
                <a:solidFill>
                  <a:srgbClr val="22273A"/>
                </a:solidFill>
                <a:latin typeface="Calibri" pitchFamily="34" charset="0"/>
                <a:ea typeface="Calibri" pitchFamily="34" charset="-122"/>
                <a:cs typeface="Calibri" pitchFamily="34" charset="-120"/>
              </a:rPr>
              <a:t>The work is educational and practical, and the predictive-analytics component can be adapted to different historical datasets across business contexts, forming a foundation for advanced forecasting, dashboard automation, and BI-platform integration.</a:t>
            </a:r>
            <a:endParaRPr lang="en-US" sz="1200" dirty="0"/>
          </a:p>
        </p:txBody>
      </p:sp>
      <p:sp>
        <p:nvSpPr>
          <p:cNvPr id="8" name="Shape 5"/>
          <p:cNvSpPr/>
          <p:nvPr/>
        </p:nvSpPr>
        <p:spPr>
          <a:xfrm>
            <a:off x="7269480" y="1691640"/>
            <a:ext cx="4279392" cy="4434840"/>
          </a:xfrm>
          <a:prstGeom prst="roundRect">
            <a:avLst>
              <a:gd name="adj" fmla="val 2137"/>
            </a:avLst>
          </a:prstGeom>
          <a:solidFill>
            <a:srgbClr val="1E2761"/>
          </a:solidFill>
          <a:ln/>
        </p:spPr>
      </p:sp>
      <p:sp>
        <p:nvSpPr>
          <p:cNvPr id="9" name="Text 6"/>
          <p:cNvSpPr/>
          <p:nvPr/>
        </p:nvSpPr>
        <p:spPr>
          <a:xfrm>
            <a:off x="7543800" y="1965960"/>
            <a:ext cx="3749040" cy="365760"/>
          </a:xfrm>
          <a:prstGeom prst="rect">
            <a:avLst/>
          </a:prstGeom>
          <a:noFill/>
          <a:ln/>
        </p:spPr>
        <p:txBody>
          <a:bodyPr wrap="square" rtlCol="0" anchor="ctr"/>
          <a:lstStyle/>
          <a:p>
            <a:pPr indent="0" marL="0">
              <a:buNone/>
            </a:pPr>
            <a:r>
              <a:rPr lang="en-US" sz="1400" b="1" dirty="0">
                <a:solidFill>
                  <a:srgbClr val="C9A24B"/>
                </a:solidFill>
                <a:latin typeface="Calibri" pitchFamily="34" charset="0"/>
                <a:ea typeface="Calibri" pitchFamily="34" charset="-122"/>
                <a:cs typeface="Calibri" pitchFamily="34" charset="-120"/>
              </a:rPr>
              <a:t>In Scope</a:t>
            </a:r>
            <a:endParaRPr lang="en-US" sz="1400" dirty="0"/>
          </a:p>
        </p:txBody>
      </p:sp>
      <p:sp>
        <p:nvSpPr>
          <p:cNvPr id="10" name="Shape 7"/>
          <p:cNvSpPr/>
          <p:nvPr/>
        </p:nvSpPr>
        <p:spPr>
          <a:xfrm>
            <a:off x="7543800" y="2468880"/>
            <a:ext cx="146304" cy="146304"/>
          </a:xfrm>
          <a:prstGeom prst="ellipse">
            <a:avLst/>
          </a:prstGeom>
          <a:solidFill>
            <a:srgbClr val="C9A24B"/>
          </a:solidFill>
          <a:ln/>
        </p:spPr>
      </p:sp>
      <p:sp>
        <p:nvSpPr>
          <p:cNvPr id="11" name="Text 8"/>
          <p:cNvSpPr/>
          <p:nvPr/>
        </p:nvSpPr>
        <p:spPr>
          <a:xfrm>
            <a:off x="7818120" y="2423160"/>
            <a:ext cx="365760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Data import &amp; cleaning</a:t>
            </a:r>
            <a:endParaRPr lang="en-US" sz="1200" dirty="0"/>
          </a:p>
        </p:txBody>
      </p:sp>
      <p:sp>
        <p:nvSpPr>
          <p:cNvPr id="12" name="Shape 9"/>
          <p:cNvSpPr/>
          <p:nvPr/>
        </p:nvSpPr>
        <p:spPr>
          <a:xfrm>
            <a:off x="7543800" y="3035808"/>
            <a:ext cx="146304" cy="146304"/>
          </a:xfrm>
          <a:prstGeom prst="ellipse">
            <a:avLst/>
          </a:prstGeom>
          <a:solidFill>
            <a:srgbClr val="C9A24B"/>
          </a:solidFill>
          <a:ln/>
        </p:spPr>
      </p:sp>
      <p:sp>
        <p:nvSpPr>
          <p:cNvPr id="13" name="Text 10"/>
          <p:cNvSpPr/>
          <p:nvPr/>
        </p:nvSpPr>
        <p:spPr>
          <a:xfrm>
            <a:off x="7818120" y="2990088"/>
            <a:ext cx="365760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KPI dashboarding</a:t>
            </a:r>
            <a:endParaRPr lang="en-US" sz="1200" dirty="0"/>
          </a:p>
        </p:txBody>
      </p:sp>
      <p:sp>
        <p:nvSpPr>
          <p:cNvPr id="14" name="Shape 11"/>
          <p:cNvSpPr/>
          <p:nvPr/>
        </p:nvSpPr>
        <p:spPr>
          <a:xfrm>
            <a:off x="7543800" y="3602736"/>
            <a:ext cx="146304" cy="146304"/>
          </a:xfrm>
          <a:prstGeom prst="ellipse">
            <a:avLst/>
          </a:prstGeom>
          <a:solidFill>
            <a:srgbClr val="C9A24B"/>
          </a:solidFill>
          <a:ln/>
        </p:spPr>
      </p:sp>
      <p:sp>
        <p:nvSpPr>
          <p:cNvPr id="15" name="Text 12"/>
          <p:cNvSpPr/>
          <p:nvPr/>
        </p:nvSpPr>
        <p:spPr>
          <a:xfrm>
            <a:off x="7818120" y="3557016"/>
            <a:ext cx="365760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Customer segmentation</a:t>
            </a:r>
            <a:endParaRPr lang="en-US" sz="1200" dirty="0"/>
          </a:p>
        </p:txBody>
      </p:sp>
      <p:sp>
        <p:nvSpPr>
          <p:cNvPr id="16" name="Shape 13"/>
          <p:cNvSpPr/>
          <p:nvPr/>
        </p:nvSpPr>
        <p:spPr>
          <a:xfrm>
            <a:off x="7543800" y="4169664"/>
            <a:ext cx="146304" cy="146304"/>
          </a:xfrm>
          <a:prstGeom prst="ellipse">
            <a:avLst/>
          </a:prstGeom>
          <a:solidFill>
            <a:srgbClr val="C9A24B"/>
          </a:solidFill>
          <a:ln/>
        </p:spPr>
      </p:sp>
      <p:sp>
        <p:nvSpPr>
          <p:cNvPr id="17" name="Text 14"/>
          <p:cNvSpPr/>
          <p:nvPr/>
        </p:nvSpPr>
        <p:spPr>
          <a:xfrm>
            <a:off x="7818120" y="4123944"/>
            <a:ext cx="365760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Predictive modelling</a:t>
            </a:r>
            <a:endParaRPr lang="en-US" sz="1200" dirty="0"/>
          </a:p>
        </p:txBody>
      </p:sp>
      <p:sp>
        <p:nvSpPr>
          <p:cNvPr id="18" name="Shape 15"/>
          <p:cNvSpPr/>
          <p:nvPr/>
        </p:nvSpPr>
        <p:spPr>
          <a:xfrm>
            <a:off x="7543800" y="4736592"/>
            <a:ext cx="146304" cy="146304"/>
          </a:xfrm>
          <a:prstGeom prst="ellipse">
            <a:avLst/>
          </a:prstGeom>
          <a:solidFill>
            <a:srgbClr val="C9A24B"/>
          </a:solidFill>
          <a:ln/>
        </p:spPr>
      </p:sp>
      <p:sp>
        <p:nvSpPr>
          <p:cNvPr id="19" name="Text 16"/>
          <p:cNvSpPr/>
          <p:nvPr/>
        </p:nvSpPr>
        <p:spPr>
          <a:xfrm>
            <a:off x="7818120" y="4690872"/>
            <a:ext cx="365760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Model evaluation</a:t>
            </a:r>
            <a:endParaRPr lang="en-US" sz="1200" dirty="0"/>
          </a:p>
        </p:txBody>
      </p:sp>
      <p:sp>
        <p:nvSpPr>
          <p:cNvPr id="20" name="Shape 17"/>
          <p:cNvSpPr/>
          <p:nvPr/>
        </p:nvSpPr>
        <p:spPr>
          <a:xfrm>
            <a:off x="7543800" y="5303520"/>
            <a:ext cx="146304" cy="146304"/>
          </a:xfrm>
          <a:prstGeom prst="ellipse">
            <a:avLst/>
          </a:prstGeom>
          <a:solidFill>
            <a:srgbClr val="C9A24B"/>
          </a:solidFill>
          <a:ln/>
        </p:spPr>
      </p:sp>
      <p:sp>
        <p:nvSpPr>
          <p:cNvPr id="21" name="Text 18"/>
          <p:cNvSpPr/>
          <p:nvPr/>
        </p:nvSpPr>
        <p:spPr>
          <a:xfrm>
            <a:off x="7818120" y="5257800"/>
            <a:ext cx="365760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Automated reporting</a:t>
            </a:r>
            <a:endParaRPr lang="en-US" sz="1200" dirty="0"/>
          </a:p>
        </p:txBody>
      </p:sp>
      <p:sp>
        <p:nvSpPr>
          <p:cNvPr id="22" name="Text 19"/>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Thiranex Data Analytics Internship  •  Amit Kushwaha</a:t>
            </a:r>
            <a:endParaRPr lang="en-US" sz="900" dirty="0"/>
          </a:p>
        </p:txBody>
      </p:sp>
      <p:sp>
        <p:nvSpPr>
          <p:cNvPr id="23" name="Text 20"/>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4.6</a:t>
            </a:r>
            <a:endParaRPr lang="en-US" sz="1300" dirty="0"/>
          </a:p>
        </p:txBody>
      </p:sp>
      <p:sp>
        <p:nvSpPr>
          <p:cNvPr id="3" name="Text 1"/>
          <p:cNvSpPr/>
          <p:nvPr/>
        </p:nvSpPr>
        <p:spPr>
          <a:xfrm>
            <a:off x="640080" y="713232"/>
            <a:ext cx="1051560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Technologies &amp; Tools Used</a:t>
            </a:r>
            <a:endParaRPr lang="en-US" sz="3000" dirty="0"/>
          </a:p>
        </p:txBody>
      </p:sp>
      <p:sp>
        <p:nvSpPr>
          <p:cNvPr id="4" name="Shape 2"/>
          <p:cNvSpPr/>
          <p:nvPr/>
        </p:nvSpPr>
        <p:spPr>
          <a:xfrm>
            <a:off x="640080" y="1737360"/>
            <a:ext cx="3456432" cy="1920240"/>
          </a:xfrm>
          <a:prstGeom prst="roundRect">
            <a:avLst>
              <a:gd name="adj" fmla="val 4762"/>
            </a:avLst>
          </a:prstGeom>
          <a:solidFill>
            <a:srgbClr val="F4F6FB"/>
          </a:solidFill>
          <a:ln/>
        </p:spPr>
      </p:sp>
      <p:pic>
        <p:nvPicPr>
          <p:cNvPr id="5" name="Image 0" descr="icon_tech.png">    </p:cNvPr>
          <p:cNvPicPr>
            <a:picLocks noChangeAspect="1"/>
          </p:cNvPicPr>
          <p:nvPr/>
        </p:nvPicPr>
        <p:blipFill>
          <a:blip r:embed="rId1"/>
          <a:stretch>
            <a:fillRect/>
          </a:stretch>
        </p:blipFill>
        <p:spPr>
          <a:xfrm>
            <a:off x="868680" y="1965960"/>
            <a:ext cx="502920" cy="502920"/>
          </a:xfrm>
          <a:prstGeom prst="rect">
            <a:avLst/>
          </a:prstGeom>
        </p:spPr>
      </p:pic>
      <p:sp>
        <p:nvSpPr>
          <p:cNvPr id="6" name="Text 3"/>
          <p:cNvSpPr/>
          <p:nvPr/>
        </p:nvSpPr>
        <p:spPr>
          <a:xfrm>
            <a:off x="868680" y="2606040"/>
            <a:ext cx="2999232"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Python</a:t>
            </a:r>
            <a:endParaRPr lang="en-US" sz="1400" dirty="0"/>
          </a:p>
        </p:txBody>
      </p:sp>
      <p:sp>
        <p:nvSpPr>
          <p:cNvPr id="7" name="Text 4"/>
          <p:cNvSpPr/>
          <p:nvPr/>
        </p:nvSpPr>
        <p:spPr>
          <a:xfrm>
            <a:off x="868680" y="2971800"/>
            <a:ext cx="2999232" cy="594360"/>
          </a:xfrm>
          <a:prstGeom prst="rect">
            <a:avLst/>
          </a:prstGeom>
          <a:noFill/>
          <a:ln/>
        </p:spPr>
        <p:txBody>
          <a:bodyPr wrap="square" rtlCol="0" anchor="ctr"/>
          <a:lstStyle/>
          <a:p>
            <a:pPr indent="0" marL="0">
              <a:lnSpc>
                <a:spcPct val="115000"/>
              </a:lnSpc>
              <a:buNone/>
            </a:pPr>
            <a:r>
              <a:rPr lang="en-US" sz="1050" dirty="0">
                <a:solidFill>
                  <a:srgbClr val="22273A"/>
                </a:solidFill>
                <a:latin typeface="Calibri" pitchFamily="34" charset="0"/>
                <a:ea typeface="Calibri" pitchFamily="34" charset="-122"/>
                <a:cs typeface="Calibri" pitchFamily="34" charset="-120"/>
              </a:rPr>
              <a:t>Primary language for analysis &amp; modelling</a:t>
            </a:r>
            <a:endParaRPr lang="en-US" sz="1050" dirty="0"/>
          </a:p>
        </p:txBody>
      </p:sp>
      <p:sp>
        <p:nvSpPr>
          <p:cNvPr id="8" name="Shape 5"/>
          <p:cNvSpPr/>
          <p:nvPr/>
        </p:nvSpPr>
        <p:spPr>
          <a:xfrm>
            <a:off x="4315968" y="1737360"/>
            <a:ext cx="3456432" cy="1920240"/>
          </a:xfrm>
          <a:prstGeom prst="roundRect">
            <a:avLst>
              <a:gd name="adj" fmla="val 4762"/>
            </a:avLst>
          </a:prstGeom>
          <a:solidFill>
            <a:srgbClr val="F4F6FB"/>
          </a:solidFill>
          <a:ln/>
        </p:spPr>
      </p:sp>
      <p:pic>
        <p:nvPicPr>
          <p:cNvPr id="9" name="Image 1" descr="icon_tech.png">    </p:cNvPr>
          <p:cNvPicPr>
            <a:picLocks noChangeAspect="1"/>
          </p:cNvPicPr>
          <p:nvPr/>
        </p:nvPicPr>
        <p:blipFill>
          <a:blip r:embed="rId2"/>
          <a:stretch>
            <a:fillRect/>
          </a:stretch>
        </p:blipFill>
        <p:spPr>
          <a:xfrm>
            <a:off x="4544568" y="1965960"/>
            <a:ext cx="502920" cy="502920"/>
          </a:xfrm>
          <a:prstGeom prst="rect">
            <a:avLst/>
          </a:prstGeom>
        </p:spPr>
      </p:pic>
      <p:sp>
        <p:nvSpPr>
          <p:cNvPr id="10" name="Text 6"/>
          <p:cNvSpPr/>
          <p:nvPr/>
        </p:nvSpPr>
        <p:spPr>
          <a:xfrm>
            <a:off x="4544568" y="2606040"/>
            <a:ext cx="2999232"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Pandas</a:t>
            </a:r>
            <a:endParaRPr lang="en-US" sz="1400" dirty="0"/>
          </a:p>
        </p:txBody>
      </p:sp>
      <p:sp>
        <p:nvSpPr>
          <p:cNvPr id="11" name="Text 7"/>
          <p:cNvSpPr/>
          <p:nvPr/>
        </p:nvSpPr>
        <p:spPr>
          <a:xfrm>
            <a:off x="4544568" y="2971800"/>
            <a:ext cx="2999232" cy="594360"/>
          </a:xfrm>
          <a:prstGeom prst="rect">
            <a:avLst/>
          </a:prstGeom>
          <a:noFill/>
          <a:ln/>
        </p:spPr>
        <p:txBody>
          <a:bodyPr wrap="square" rtlCol="0" anchor="ctr"/>
          <a:lstStyle/>
          <a:p>
            <a:pPr indent="0" marL="0">
              <a:lnSpc>
                <a:spcPct val="115000"/>
              </a:lnSpc>
              <a:buNone/>
            </a:pPr>
            <a:r>
              <a:rPr lang="en-US" sz="1050" dirty="0">
                <a:solidFill>
                  <a:srgbClr val="22273A"/>
                </a:solidFill>
                <a:latin typeface="Calibri" pitchFamily="34" charset="0"/>
                <a:ea typeface="Calibri" pitchFamily="34" charset="-122"/>
                <a:cs typeface="Calibri" pitchFamily="34" charset="-120"/>
              </a:rPr>
              <a:t>Loading, cleaning &amp; transforming data</a:t>
            </a:r>
            <a:endParaRPr lang="en-US" sz="1050" dirty="0"/>
          </a:p>
        </p:txBody>
      </p:sp>
      <p:sp>
        <p:nvSpPr>
          <p:cNvPr id="12" name="Shape 8"/>
          <p:cNvSpPr/>
          <p:nvPr/>
        </p:nvSpPr>
        <p:spPr>
          <a:xfrm>
            <a:off x="7991856" y="1737360"/>
            <a:ext cx="3456432" cy="1920240"/>
          </a:xfrm>
          <a:prstGeom prst="roundRect">
            <a:avLst>
              <a:gd name="adj" fmla="val 4762"/>
            </a:avLst>
          </a:prstGeom>
          <a:solidFill>
            <a:srgbClr val="F4F6FB"/>
          </a:solidFill>
          <a:ln/>
        </p:spPr>
      </p:sp>
      <p:pic>
        <p:nvPicPr>
          <p:cNvPr id="13" name="Image 2" descr="icon_tech.png">    </p:cNvPr>
          <p:cNvPicPr>
            <a:picLocks noChangeAspect="1"/>
          </p:cNvPicPr>
          <p:nvPr/>
        </p:nvPicPr>
        <p:blipFill>
          <a:blip r:embed="rId3"/>
          <a:stretch>
            <a:fillRect/>
          </a:stretch>
        </p:blipFill>
        <p:spPr>
          <a:xfrm>
            <a:off x="8220456" y="1965960"/>
            <a:ext cx="502920" cy="502920"/>
          </a:xfrm>
          <a:prstGeom prst="rect">
            <a:avLst/>
          </a:prstGeom>
        </p:spPr>
      </p:pic>
      <p:sp>
        <p:nvSpPr>
          <p:cNvPr id="14" name="Text 9"/>
          <p:cNvSpPr/>
          <p:nvPr/>
        </p:nvSpPr>
        <p:spPr>
          <a:xfrm>
            <a:off x="8220456" y="2606040"/>
            <a:ext cx="2999232"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Excel / Power BI</a:t>
            </a:r>
            <a:endParaRPr lang="en-US" sz="1400" dirty="0"/>
          </a:p>
        </p:txBody>
      </p:sp>
      <p:sp>
        <p:nvSpPr>
          <p:cNvPr id="15" name="Text 10"/>
          <p:cNvSpPr/>
          <p:nvPr/>
        </p:nvSpPr>
        <p:spPr>
          <a:xfrm>
            <a:off x="8220456" y="2971800"/>
            <a:ext cx="2999232" cy="594360"/>
          </a:xfrm>
          <a:prstGeom prst="rect">
            <a:avLst/>
          </a:prstGeom>
          <a:noFill/>
          <a:ln/>
        </p:spPr>
        <p:txBody>
          <a:bodyPr wrap="square" rtlCol="0" anchor="ctr"/>
          <a:lstStyle/>
          <a:p>
            <a:pPr indent="0" marL="0">
              <a:lnSpc>
                <a:spcPct val="115000"/>
              </a:lnSpc>
              <a:buNone/>
            </a:pPr>
            <a:r>
              <a:rPr lang="en-US" sz="1050" dirty="0">
                <a:solidFill>
                  <a:srgbClr val="22273A"/>
                </a:solidFill>
                <a:latin typeface="Calibri" pitchFamily="34" charset="0"/>
                <a:ea typeface="Calibri" pitchFamily="34" charset="-122"/>
                <a:cs typeface="Calibri" pitchFamily="34" charset="-120"/>
              </a:rPr>
              <a:t>Dashboards &amp; interactive reporting</a:t>
            </a:r>
            <a:endParaRPr lang="en-US" sz="1050" dirty="0"/>
          </a:p>
        </p:txBody>
      </p:sp>
      <p:sp>
        <p:nvSpPr>
          <p:cNvPr id="16" name="Shape 11"/>
          <p:cNvSpPr/>
          <p:nvPr/>
        </p:nvSpPr>
        <p:spPr>
          <a:xfrm>
            <a:off x="640080" y="3931920"/>
            <a:ext cx="3456432" cy="1920240"/>
          </a:xfrm>
          <a:prstGeom prst="roundRect">
            <a:avLst>
              <a:gd name="adj" fmla="val 4762"/>
            </a:avLst>
          </a:prstGeom>
          <a:solidFill>
            <a:srgbClr val="F4F6FB"/>
          </a:solidFill>
          <a:ln/>
        </p:spPr>
      </p:sp>
      <p:pic>
        <p:nvPicPr>
          <p:cNvPr id="17" name="Image 3" descr="icon_tech.png">    </p:cNvPr>
          <p:cNvPicPr>
            <a:picLocks noChangeAspect="1"/>
          </p:cNvPicPr>
          <p:nvPr/>
        </p:nvPicPr>
        <p:blipFill>
          <a:blip r:embed="rId4"/>
          <a:stretch>
            <a:fillRect/>
          </a:stretch>
        </p:blipFill>
        <p:spPr>
          <a:xfrm>
            <a:off x="868680" y="4160520"/>
            <a:ext cx="502920" cy="502920"/>
          </a:xfrm>
          <a:prstGeom prst="rect">
            <a:avLst/>
          </a:prstGeom>
        </p:spPr>
      </p:pic>
      <p:sp>
        <p:nvSpPr>
          <p:cNvPr id="18" name="Text 12"/>
          <p:cNvSpPr/>
          <p:nvPr/>
        </p:nvSpPr>
        <p:spPr>
          <a:xfrm>
            <a:off x="868680" y="4800600"/>
            <a:ext cx="2999232"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Matplotlib / Seaborn</a:t>
            </a:r>
            <a:endParaRPr lang="en-US" sz="1400" dirty="0"/>
          </a:p>
        </p:txBody>
      </p:sp>
      <p:sp>
        <p:nvSpPr>
          <p:cNvPr id="19" name="Text 13"/>
          <p:cNvSpPr/>
          <p:nvPr/>
        </p:nvSpPr>
        <p:spPr>
          <a:xfrm>
            <a:off x="868680" y="5166360"/>
            <a:ext cx="2999232" cy="594360"/>
          </a:xfrm>
          <a:prstGeom prst="rect">
            <a:avLst/>
          </a:prstGeom>
          <a:noFill/>
          <a:ln/>
        </p:spPr>
        <p:txBody>
          <a:bodyPr wrap="square" rtlCol="0" anchor="ctr"/>
          <a:lstStyle/>
          <a:p>
            <a:pPr indent="0" marL="0">
              <a:lnSpc>
                <a:spcPct val="115000"/>
              </a:lnSpc>
              <a:buNone/>
            </a:pPr>
            <a:r>
              <a:rPr lang="en-US" sz="1050" dirty="0">
                <a:solidFill>
                  <a:srgbClr val="22273A"/>
                </a:solidFill>
                <a:latin typeface="Calibri" pitchFamily="34" charset="0"/>
                <a:ea typeface="Calibri" pitchFamily="34" charset="-122"/>
                <a:cs typeface="Calibri" pitchFamily="34" charset="-120"/>
              </a:rPr>
              <a:t>Visualisations &amp; analytical plots</a:t>
            </a:r>
            <a:endParaRPr lang="en-US" sz="1050" dirty="0"/>
          </a:p>
        </p:txBody>
      </p:sp>
      <p:sp>
        <p:nvSpPr>
          <p:cNvPr id="20" name="Shape 14"/>
          <p:cNvSpPr/>
          <p:nvPr/>
        </p:nvSpPr>
        <p:spPr>
          <a:xfrm>
            <a:off x="4315968" y="3931920"/>
            <a:ext cx="3456432" cy="1920240"/>
          </a:xfrm>
          <a:prstGeom prst="roundRect">
            <a:avLst>
              <a:gd name="adj" fmla="val 4762"/>
            </a:avLst>
          </a:prstGeom>
          <a:solidFill>
            <a:srgbClr val="F4F6FB"/>
          </a:solidFill>
          <a:ln/>
        </p:spPr>
      </p:sp>
      <p:pic>
        <p:nvPicPr>
          <p:cNvPr id="21" name="Image 4" descr="icon_tech.png">    </p:cNvPr>
          <p:cNvPicPr>
            <a:picLocks noChangeAspect="1"/>
          </p:cNvPicPr>
          <p:nvPr/>
        </p:nvPicPr>
        <p:blipFill>
          <a:blip r:embed="rId5"/>
          <a:stretch>
            <a:fillRect/>
          </a:stretch>
        </p:blipFill>
        <p:spPr>
          <a:xfrm>
            <a:off x="4544568" y="4160520"/>
            <a:ext cx="502920" cy="502920"/>
          </a:xfrm>
          <a:prstGeom prst="rect">
            <a:avLst/>
          </a:prstGeom>
        </p:spPr>
      </p:pic>
      <p:sp>
        <p:nvSpPr>
          <p:cNvPr id="22" name="Text 15"/>
          <p:cNvSpPr/>
          <p:nvPr/>
        </p:nvSpPr>
        <p:spPr>
          <a:xfrm>
            <a:off x="4544568" y="4800600"/>
            <a:ext cx="2999232"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Scikit-learn</a:t>
            </a:r>
            <a:endParaRPr lang="en-US" sz="1400" dirty="0"/>
          </a:p>
        </p:txBody>
      </p:sp>
      <p:sp>
        <p:nvSpPr>
          <p:cNvPr id="23" name="Text 16"/>
          <p:cNvSpPr/>
          <p:nvPr/>
        </p:nvSpPr>
        <p:spPr>
          <a:xfrm>
            <a:off x="4544568" y="5166360"/>
            <a:ext cx="2999232" cy="594360"/>
          </a:xfrm>
          <a:prstGeom prst="rect">
            <a:avLst/>
          </a:prstGeom>
          <a:noFill/>
          <a:ln/>
        </p:spPr>
        <p:txBody>
          <a:bodyPr wrap="square" rtlCol="0" anchor="ctr"/>
          <a:lstStyle/>
          <a:p>
            <a:pPr indent="0" marL="0">
              <a:lnSpc>
                <a:spcPct val="115000"/>
              </a:lnSpc>
              <a:buNone/>
            </a:pPr>
            <a:r>
              <a:rPr lang="en-US" sz="1050" dirty="0">
                <a:solidFill>
                  <a:srgbClr val="22273A"/>
                </a:solidFill>
                <a:latin typeface="Calibri" pitchFamily="34" charset="0"/>
                <a:ea typeface="Calibri" pitchFamily="34" charset="-122"/>
                <a:cs typeface="Calibri" pitchFamily="34" charset="-120"/>
              </a:rPr>
              <a:t>Clustering &amp; regression / time-series</a:t>
            </a:r>
            <a:endParaRPr lang="en-US" sz="1050" dirty="0"/>
          </a:p>
        </p:txBody>
      </p:sp>
      <p:sp>
        <p:nvSpPr>
          <p:cNvPr id="24" name="Shape 17"/>
          <p:cNvSpPr/>
          <p:nvPr/>
        </p:nvSpPr>
        <p:spPr>
          <a:xfrm>
            <a:off x="7991856" y="3931920"/>
            <a:ext cx="3456432" cy="1920240"/>
          </a:xfrm>
          <a:prstGeom prst="roundRect">
            <a:avLst>
              <a:gd name="adj" fmla="val 4762"/>
            </a:avLst>
          </a:prstGeom>
          <a:solidFill>
            <a:srgbClr val="F4F6FB"/>
          </a:solidFill>
          <a:ln/>
        </p:spPr>
      </p:sp>
      <p:pic>
        <p:nvPicPr>
          <p:cNvPr id="25" name="Image 5" descr="icon_tech.png">    </p:cNvPr>
          <p:cNvPicPr>
            <a:picLocks noChangeAspect="1"/>
          </p:cNvPicPr>
          <p:nvPr/>
        </p:nvPicPr>
        <p:blipFill>
          <a:blip r:embed="rId6"/>
          <a:stretch>
            <a:fillRect/>
          </a:stretch>
        </p:blipFill>
        <p:spPr>
          <a:xfrm>
            <a:off x="8220456" y="4160520"/>
            <a:ext cx="502920" cy="502920"/>
          </a:xfrm>
          <a:prstGeom prst="rect">
            <a:avLst/>
          </a:prstGeom>
        </p:spPr>
      </p:pic>
      <p:sp>
        <p:nvSpPr>
          <p:cNvPr id="26" name="Text 18"/>
          <p:cNvSpPr/>
          <p:nvPr/>
        </p:nvSpPr>
        <p:spPr>
          <a:xfrm>
            <a:off x="8220456" y="4800600"/>
            <a:ext cx="2999232"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Jupyter / Colab</a:t>
            </a:r>
            <a:endParaRPr lang="en-US" sz="1400" dirty="0"/>
          </a:p>
        </p:txBody>
      </p:sp>
      <p:sp>
        <p:nvSpPr>
          <p:cNvPr id="27" name="Text 19"/>
          <p:cNvSpPr/>
          <p:nvPr/>
        </p:nvSpPr>
        <p:spPr>
          <a:xfrm>
            <a:off x="8220456" y="5166360"/>
            <a:ext cx="2999232" cy="594360"/>
          </a:xfrm>
          <a:prstGeom prst="rect">
            <a:avLst/>
          </a:prstGeom>
          <a:noFill/>
          <a:ln/>
        </p:spPr>
        <p:txBody>
          <a:bodyPr wrap="square" rtlCol="0" anchor="ctr"/>
          <a:lstStyle/>
          <a:p>
            <a:pPr indent="0" marL="0">
              <a:lnSpc>
                <a:spcPct val="115000"/>
              </a:lnSpc>
              <a:buNone/>
            </a:pPr>
            <a:r>
              <a:rPr lang="en-US" sz="1050" dirty="0">
                <a:solidFill>
                  <a:srgbClr val="22273A"/>
                </a:solidFill>
                <a:latin typeface="Calibri" pitchFamily="34" charset="0"/>
                <a:ea typeface="Calibri" pitchFamily="34" charset="-122"/>
                <a:cs typeface="Calibri" pitchFamily="34" charset="-120"/>
              </a:rPr>
              <a:t>Interactive coding environment</a:t>
            </a:r>
            <a:endParaRPr lang="en-US" sz="1050" dirty="0"/>
          </a:p>
        </p:txBody>
      </p:sp>
      <p:sp>
        <p:nvSpPr>
          <p:cNvPr id="28" name="Text 20"/>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Thiranex Data Analytics Internship  •  Amit Kushwaha</a:t>
            </a:r>
            <a:endParaRPr lang="en-US" sz="900" dirty="0"/>
          </a:p>
        </p:txBody>
      </p:sp>
      <p:sp>
        <p:nvSpPr>
          <p:cNvPr id="29" name="Text 2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pic>
        <p:nvPicPr>
          <p:cNvPr id="2" name="Image 0" descr="icon_architecture.png">    </p:cNvPr>
          <p:cNvPicPr>
            <a:picLocks noChangeAspect="1"/>
          </p:cNvPicPr>
          <p:nvPr/>
        </p:nvPicPr>
        <p:blipFill>
          <a:blip r:embed="rId1"/>
          <a:stretch>
            <a:fillRect/>
          </a:stretch>
        </p:blipFill>
        <p:spPr>
          <a:xfrm>
            <a:off x="640080" y="502920"/>
            <a:ext cx="640080" cy="640080"/>
          </a:xfrm>
          <a:prstGeom prst="rect">
            <a:avLst/>
          </a:prstGeom>
        </p:spPr>
      </p:pic>
      <p:sp>
        <p:nvSpPr>
          <p:cNvPr id="3" name="Text 0"/>
          <p:cNvSpPr/>
          <p:nvPr/>
        </p:nvSpPr>
        <p:spPr>
          <a:xfrm>
            <a:off x="1417320" y="548640"/>
            <a:ext cx="5486400" cy="36576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SYSTEM ARCHITECTURE</a:t>
            </a:r>
            <a:endParaRPr lang="en-US" sz="1300" dirty="0"/>
          </a:p>
        </p:txBody>
      </p:sp>
      <p:sp>
        <p:nvSpPr>
          <p:cNvPr id="4" name="Text 1"/>
          <p:cNvSpPr/>
          <p:nvPr/>
        </p:nvSpPr>
        <p:spPr>
          <a:xfrm>
            <a:off x="640080" y="960120"/>
            <a:ext cx="1005840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Analytics Pipeline</a:t>
            </a:r>
            <a:endParaRPr lang="en-US" sz="2600" dirty="0"/>
          </a:p>
        </p:txBody>
      </p:sp>
      <p:sp>
        <p:nvSpPr>
          <p:cNvPr id="5" name="Shape 2"/>
          <p:cNvSpPr/>
          <p:nvPr/>
        </p:nvSpPr>
        <p:spPr>
          <a:xfrm>
            <a:off x="640080" y="2834640"/>
            <a:ext cx="1600200" cy="1234440"/>
          </a:xfrm>
          <a:prstGeom prst="roundRect">
            <a:avLst>
              <a:gd name="adj" fmla="val 7407"/>
            </a:avLst>
          </a:prstGeom>
          <a:solidFill>
            <a:srgbClr val="141B4D"/>
          </a:solidFill>
          <a:ln w="12700">
            <a:solidFill>
              <a:srgbClr val="3B4680"/>
            </a:solidFill>
            <a:prstDash val="solid"/>
          </a:ln>
        </p:spPr>
      </p:sp>
      <p:sp>
        <p:nvSpPr>
          <p:cNvPr id="6" name="Text 3"/>
          <p:cNvSpPr/>
          <p:nvPr/>
        </p:nvSpPr>
        <p:spPr>
          <a:xfrm>
            <a:off x="685800" y="2834640"/>
            <a:ext cx="1508760" cy="1234440"/>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Raw Data</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Import</a:t>
            </a:r>
            <a:endParaRPr lang="en-US" sz="1100" dirty="0"/>
          </a:p>
        </p:txBody>
      </p:sp>
      <p:sp>
        <p:nvSpPr>
          <p:cNvPr id="7" name="Text 4"/>
          <p:cNvSpPr/>
          <p:nvPr/>
        </p:nvSpPr>
        <p:spPr>
          <a:xfrm>
            <a:off x="2240280" y="2834640"/>
            <a:ext cx="256032" cy="1234440"/>
          </a:xfrm>
          <a:prstGeom prst="rect">
            <a:avLst/>
          </a:prstGeom>
          <a:noFill/>
          <a:ln/>
        </p:spPr>
        <p:txBody>
          <a:bodyPr wrap="square" rtlCol="0" anchor="ctr"/>
          <a:lstStyle/>
          <a:p>
            <a:pPr algn="ctr" indent="0" marL="0">
              <a:buNone/>
            </a:pPr>
            <a:r>
              <a:rPr lang="en-US" sz="2000" dirty="0">
                <a:solidFill>
                  <a:srgbClr val="C9A24B"/>
                </a:solidFill>
                <a:latin typeface="Calibri" pitchFamily="34" charset="0"/>
                <a:ea typeface="Calibri" pitchFamily="34" charset="-122"/>
                <a:cs typeface="Calibri" pitchFamily="34" charset="-120"/>
              </a:rPr>
              <a:t>→</a:t>
            </a:r>
            <a:endParaRPr lang="en-US" sz="2000" dirty="0"/>
          </a:p>
        </p:txBody>
      </p:sp>
      <p:sp>
        <p:nvSpPr>
          <p:cNvPr id="8" name="Shape 5"/>
          <p:cNvSpPr/>
          <p:nvPr/>
        </p:nvSpPr>
        <p:spPr>
          <a:xfrm>
            <a:off x="2496312" y="2834640"/>
            <a:ext cx="1600200" cy="1234440"/>
          </a:xfrm>
          <a:prstGeom prst="roundRect">
            <a:avLst>
              <a:gd name="adj" fmla="val 7407"/>
            </a:avLst>
          </a:prstGeom>
          <a:solidFill>
            <a:srgbClr val="141B4D"/>
          </a:solidFill>
          <a:ln w="12700">
            <a:solidFill>
              <a:srgbClr val="3B4680"/>
            </a:solidFill>
            <a:prstDash val="solid"/>
          </a:ln>
        </p:spPr>
      </p:sp>
      <p:sp>
        <p:nvSpPr>
          <p:cNvPr id="9" name="Text 6"/>
          <p:cNvSpPr/>
          <p:nvPr/>
        </p:nvSpPr>
        <p:spPr>
          <a:xfrm>
            <a:off x="2542032" y="2834640"/>
            <a:ext cx="1508760" cy="1234440"/>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Clean &amp;</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Preprocess</a:t>
            </a:r>
            <a:endParaRPr lang="en-US" sz="1100" dirty="0"/>
          </a:p>
        </p:txBody>
      </p:sp>
      <p:sp>
        <p:nvSpPr>
          <p:cNvPr id="10" name="Text 7"/>
          <p:cNvSpPr/>
          <p:nvPr/>
        </p:nvSpPr>
        <p:spPr>
          <a:xfrm>
            <a:off x="4096512" y="2834640"/>
            <a:ext cx="256032" cy="1234440"/>
          </a:xfrm>
          <a:prstGeom prst="rect">
            <a:avLst/>
          </a:prstGeom>
          <a:noFill/>
          <a:ln/>
        </p:spPr>
        <p:txBody>
          <a:bodyPr wrap="square" rtlCol="0" anchor="ctr"/>
          <a:lstStyle/>
          <a:p>
            <a:pPr algn="ctr" indent="0" marL="0">
              <a:buNone/>
            </a:pPr>
            <a:r>
              <a:rPr lang="en-US" sz="2000" dirty="0">
                <a:solidFill>
                  <a:srgbClr val="C9A24B"/>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4352544" y="2834640"/>
            <a:ext cx="1600200" cy="1234440"/>
          </a:xfrm>
          <a:prstGeom prst="roundRect">
            <a:avLst>
              <a:gd name="adj" fmla="val 7407"/>
            </a:avLst>
          </a:prstGeom>
          <a:solidFill>
            <a:srgbClr val="141B4D"/>
          </a:solidFill>
          <a:ln w="12700">
            <a:solidFill>
              <a:srgbClr val="3B4680"/>
            </a:solidFill>
            <a:prstDash val="solid"/>
          </a:ln>
        </p:spPr>
      </p:sp>
      <p:sp>
        <p:nvSpPr>
          <p:cNvPr id="12" name="Text 9"/>
          <p:cNvSpPr/>
          <p:nvPr/>
        </p:nvSpPr>
        <p:spPr>
          <a:xfrm>
            <a:off x="4398264" y="2834640"/>
            <a:ext cx="1508760" cy="1234440"/>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Dashboard</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&amp; KPIs</a:t>
            </a:r>
            <a:endParaRPr lang="en-US" sz="1100" dirty="0"/>
          </a:p>
        </p:txBody>
      </p:sp>
      <p:sp>
        <p:nvSpPr>
          <p:cNvPr id="13" name="Text 10"/>
          <p:cNvSpPr/>
          <p:nvPr/>
        </p:nvSpPr>
        <p:spPr>
          <a:xfrm>
            <a:off x="5952744" y="2834640"/>
            <a:ext cx="256032" cy="1234440"/>
          </a:xfrm>
          <a:prstGeom prst="rect">
            <a:avLst/>
          </a:prstGeom>
          <a:noFill/>
          <a:ln/>
        </p:spPr>
        <p:txBody>
          <a:bodyPr wrap="square" rtlCol="0" anchor="ctr"/>
          <a:lstStyle/>
          <a:p>
            <a:pPr algn="ctr" indent="0" marL="0">
              <a:buNone/>
            </a:pPr>
            <a:r>
              <a:rPr lang="en-US" sz="2000" dirty="0">
                <a:solidFill>
                  <a:srgbClr val="C9A24B"/>
                </a:solidFill>
                <a:latin typeface="Calibri" pitchFamily="34" charset="0"/>
                <a:ea typeface="Calibri" pitchFamily="34" charset="-122"/>
                <a:cs typeface="Calibri" pitchFamily="34" charset="-120"/>
              </a:rPr>
              <a:t>→</a:t>
            </a:r>
            <a:endParaRPr lang="en-US" sz="2000" dirty="0"/>
          </a:p>
        </p:txBody>
      </p:sp>
      <p:sp>
        <p:nvSpPr>
          <p:cNvPr id="14" name="Shape 11"/>
          <p:cNvSpPr/>
          <p:nvPr/>
        </p:nvSpPr>
        <p:spPr>
          <a:xfrm>
            <a:off x="6208776" y="2834640"/>
            <a:ext cx="1600200" cy="1234440"/>
          </a:xfrm>
          <a:prstGeom prst="roundRect">
            <a:avLst>
              <a:gd name="adj" fmla="val 7407"/>
            </a:avLst>
          </a:prstGeom>
          <a:solidFill>
            <a:srgbClr val="141B4D"/>
          </a:solidFill>
          <a:ln w="12700">
            <a:solidFill>
              <a:srgbClr val="3B4680"/>
            </a:solidFill>
            <a:prstDash val="solid"/>
          </a:ln>
        </p:spPr>
      </p:sp>
      <p:sp>
        <p:nvSpPr>
          <p:cNvPr id="15" name="Text 12"/>
          <p:cNvSpPr/>
          <p:nvPr/>
        </p:nvSpPr>
        <p:spPr>
          <a:xfrm>
            <a:off x="6254496" y="2834640"/>
            <a:ext cx="1508760" cy="1234440"/>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Segment</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Customers</a:t>
            </a:r>
            <a:endParaRPr lang="en-US" sz="1100" dirty="0"/>
          </a:p>
        </p:txBody>
      </p:sp>
      <p:sp>
        <p:nvSpPr>
          <p:cNvPr id="16" name="Text 13"/>
          <p:cNvSpPr/>
          <p:nvPr/>
        </p:nvSpPr>
        <p:spPr>
          <a:xfrm>
            <a:off x="7808976" y="2834640"/>
            <a:ext cx="256032" cy="1234440"/>
          </a:xfrm>
          <a:prstGeom prst="rect">
            <a:avLst/>
          </a:prstGeom>
          <a:noFill/>
          <a:ln/>
        </p:spPr>
        <p:txBody>
          <a:bodyPr wrap="square" rtlCol="0" anchor="ctr"/>
          <a:lstStyle/>
          <a:p>
            <a:pPr algn="ctr" indent="0" marL="0">
              <a:buNone/>
            </a:pPr>
            <a:r>
              <a:rPr lang="en-US" sz="2000" dirty="0">
                <a:solidFill>
                  <a:srgbClr val="C9A24B"/>
                </a:solidFill>
                <a:latin typeface="Calibri" pitchFamily="34" charset="0"/>
                <a:ea typeface="Calibri" pitchFamily="34" charset="-122"/>
                <a:cs typeface="Calibri" pitchFamily="34" charset="-120"/>
              </a:rPr>
              <a:t>→</a:t>
            </a:r>
            <a:endParaRPr lang="en-US" sz="2000" dirty="0"/>
          </a:p>
        </p:txBody>
      </p:sp>
      <p:sp>
        <p:nvSpPr>
          <p:cNvPr id="17" name="Shape 14"/>
          <p:cNvSpPr/>
          <p:nvPr/>
        </p:nvSpPr>
        <p:spPr>
          <a:xfrm>
            <a:off x="8065008" y="2834640"/>
            <a:ext cx="1600200" cy="1234440"/>
          </a:xfrm>
          <a:prstGeom prst="roundRect">
            <a:avLst>
              <a:gd name="adj" fmla="val 7407"/>
            </a:avLst>
          </a:prstGeom>
          <a:solidFill>
            <a:srgbClr val="141B4D"/>
          </a:solidFill>
          <a:ln w="12700">
            <a:solidFill>
              <a:srgbClr val="3B4680"/>
            </a:solidFill>
            <a:prstDash val="solid"/>
          </a:ln>
        </p:spPr>
      </p:sp>
      <p:sp>
        <p:nvSpPr>
          <p:cNvPr id="18" name="Text 15"/>
          <p:cNvSpPr/>
          <p:nvPr/>
        </p:nvSpPr>
        <p:spPr>
          <a:xfrm>
            <a:off x="8110728" y="2834640"/>
            <a:ext cx="1508760" cy="1234440"/>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Predictive</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Model</a:t>
            </a:r>
            <a:endParaRPr lang="en-US" sz="1100" dirty="0"/>
          </a:p>
        </p:txBody>
      </p:sp>
      <p:sp>
        <p:nvSpPr>
          <p:cNvPr id="19" name="Text 16"/>
          <p:cNvSpPr/>
          <p:nvPr/>
        </p:nvSpPr>
        <p:spPr>
          <a:xfrm>
            <a:off x="9665208" y="2834640"/>
            <a:ext cx="256032" cy="1234440"/>
          </a:xfrm>
          <a:prstGeom prst="rect">
            <a:avLst/>
          </a:prstGeom>
          <a:noFill/>
          <a:ln/>
        </p:spPr>
        <p:txBody>
          <a:bodyPr wrap="square" rtlCol="0" anchor="ctr"/>
          <a:lstStyle/>
          <a:p>
            <a:pPr algn="ctr" indent="0" marL="0">
              <a:buNone/>
            </a:pPr>
            <a:r>
              <a:rPr lang="en-US" sz="2000" dirty="0">
                <a:solidFill>
                  <a:srgbClr val="C9A24B"/>
                </a:solidFill>
                <a:latin typeface="Calibri" pitchFamily="34" charset="0"/>
                <a:ea typeface="Calibri" pitchFamily="34" charset="-122"/>
                <a:cs typeface="Calibri" pitchFamily="34" charset="-120"/>
              </a:rPr>
              <a:t>→</a:t>
            </a:r>
            <a:endParaRPr lang="en-US" sz="2000" dirty="0"/>
          </a:p>
        </p:txBody>
      </p:sp>
      <p:sp>
        <p:nvSpPr>
          <p:cNvPr id="20" name="Shape 17"/>
          <p:cNvSpPr/>
          <p:nvPr/>
        </p:nvSpPr>
        <p:spPr>
          <a:xfrm>
            <a:off x="9921240" y="2834640"/>
            <a:ext cx="1600200" cy="1234440"/>
          </a:xfrm>
          <a:prstGeom prst="roundRect">
            <a:avLst>
              <a:gd name="adj" fmla="val 7407"/>
            </a:avLst>
          </a:prstGeom>
          <a:solidFill>
            <a:srgbClr val="C9A24B"/>
          </a:solidFill>
          <a:ln w="12700">
            <a:solidFill>
              <a:srgbClr val="3B4680"/>
            </a:solidFill>
            <a:prstDash val="solid"/>
          </a:ln>
        </p:spPr>
      </p:sp>
      <p:sp>
        <p:nvSpPr>
          <p:cNvPr id="21" name="Text 18"/>
          <p:cNvSpPr/>
          <p:nvPr/>
        </p:nvSpPr>
        <p:spPr>
          <a:xfrm>
            <a:off x="9966960" y="2834640"/>
            <a:ext cx="1508760" cy="1234440"/>
          </a:xfrm>
          <a:prstGeom prst="rect">
            <a:avLst/>
          </a:prstGeom>
          <a:noFill/>
          <a:ln/>
        </p:spPr>
        <p:txBody>
          <a:bodyPr wrap="square" rtlCol="0" anchor="ctr"/>
          <a:lstStyle/>
          <a:p>
            <a:pPr algn="ctr" indent="0" marL="0">
              <a:lnSpc>
                <a:spcPct val="110000"/>
              </a:lnSpc>
              <a:buNone/>
            </a:pPr>
            <a:r>
              <a:rPr lang="en-US" sz="1100" b="1" dirty="0">
                <a:solidFill>
                  <a:srgbClr val="1E2761"/>
                </a:solidFill>
                <a:latin typeface="Calibri" pitchFamily="34" charset="0"/>
                <a:ea typeface="Calibri" pitchFamily="34" charset="-122"/>
                <a:cs typeface="Calibri" pitchFamily="34" charset="-120"/>
              </a:rPr>
              <a:t>Evaluate &amp;</a:t>
            </a:r>
            <a:endParaRPr lang="en-US" sz="1100" dirty="0"/>
          </a:p>
          <a:p>
            <a:pPr algn="ctr" indent="0" marL="0">
              <a:lnSpc>
                <a:spcPct val="110000"/>
              </a:lnSpc>
              <a:buNone/>
            </a:pPr>
            <a:r>
              <a:rPr lang="en-US" sz="1100" b="1" dirty="0">
                <a:solidFill>
                  <a:srgbClr val="1E2761"/>
                </a:solidFill>
                <a:latin typeface="Calibri" pitchFamily="34" charset="0"/>
                <a:ea typeface="Calibri" pitchFamily="34" charset="-122"/>
                <a:cs typeface="Calibri" pitchFamily="34" charset="-120"/>
              </a:rPr>
              <a:t>Report</a:t>
            </a:r>
            <a:endParaRPr lang="en-US" sz="1100" dirty="0"/>
          </a:p>
        </p:txBody>
      </p:sp>
      <p:sp>
        <p:nvSpPr>
          <p:cNvPr id="22" name="Text 19"/>
          <p:cNvSpPr/>
          <p:nvPr/>
        </p:nvSpPr>
        <p:spPr>
          <a:xfrm>
            <a:off x="640080" y="4480560"/>
            <a:ext cx="10515600" cy="548640"/>
          </a:xfrm>
          <a:prstGeom prst="rect">
            <a:avLst/>
          </a:prstGeom>
          <a:noFill/>
          <a:ln/>
        </p:spPr>
        <p:txBody>
          <a:bodyPr wrap="square" rtlCol="0" anchor="ctr"/>
          <a:lstStyle/>
          <a:p>
            <a:pPr algn="ctr" indent="0" marL="0">
              <a:buNone/>
            </a:pPr>
            <a:r>
              <a:rPr lang="en-US" sz="1250" i="1" dirty="0">
                <a:solidFill>
                  <a:srgbClr val="CADCFC"/>
                </a:solidFill>
                <a:latin typeface="Calibri" pitchFamily="34" charset="0"/>
                <a:ea typeface="Calibri" pitchFamily="34" charset="-122"/>
                <a:cs typeface="Calibri" pitchFamily="34" charset="-120"/>
              </a:rPr>
              <a:t>Raw sales, customer and historical data flows through cleaning, dashboarding and segmentation, into predictive modelling — closing with automated, report-ready insights.</a:t>
            </a:r>
            <a:endParaRPr lang="en-US" sz="1250" dirty="0"/>
          </a:p>
        </p:txBody>
      </p:sp>
      <p:sp>
        <p:nvSpPr>
          <p:cNvPr id="23" name="Text 20"/>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Thiranex Data Analytics Internship  •  Amit Kushwaha</a:t>
            </a:r>
            <a:endParaRPr lang="en-US" sz="900" dirty="0"/>
          </a:p>
        </p:txBody>
      </p:sp>
      <p:sp>
        <p:nvSpPr>
          <p:cNvPr id="24" name="Text 2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4.8 — TASK 1 &amp; 2</a:t>
            </a:r>
            <a:endParaRPr lang="en-US" sz="1300" dirty="0"/>
          </a:p>
        </p:txBody>
      </p:sp>
      <p:sp>
        <p:nvSpPr>
          <p:cNvPr id="3" name="Text 1"/>
          <p:cNvSpPr/>
          <p:nvPr/>
        </p:nvSpPr>
        <p:spPr>
          <a:xfrm>
            <a:off x="640080" y="713232"/>
            <a:ext cx="1051560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Methodology</a:t>
            </a:r>
            <a:endParaRPr lang="en-US" sz="3000" dirty="0"/>
          </a:p>
        </p:txBody>
      </p:sp>
      <p:sp>
        <p:nvSpPr>
          <p:cNvPr id="4" name="Shape 2"/>
          <p:cNvSpPr/>
          <p:nvPr/>
        </p:nvSpPr>
        <p:spPr>
          <a:xfrm>
            <a:off x="640080" y="1691640"/>
            <a:ext cx="5394960" cy="4434840"/>
          </a:xfrm>
          <a:prstGeom prst="roundRect">
            <a:avLst>
              <a:gd name="adj" fmla="val 2062"/>
            </a:avLst>
          </a:prstGeom>
          <a:solidFill>
            <a:srgbClr val="F4F6FB"/>
          </a:solidFill>
          <a:ln/>
        </p:spPr>
      </p:sp>
      <p:pic>
        <p:nvPicPr>
          <p:cNvPr id="5" name="Image 0" descr="icon_dashboard.png">    </p:cNvPr>
          <p:cNvPicPr>
            <a:picLocks noChangeAspect="1"/>
          </p:cNvPicPr>
          <p:nvPr/>
        </p:nvPicPr>
        <p:blipFill>
          <a:blip r:embed="rId1"/>
          <a:stretch>
            <a:fillRect/>
          </a:stretch>
        </p:blipFill>
        <p:spPr>
          <a:xfrm>
            <a:off x="914400" y="1965960"/>
            <a:ext cx="594360" cy="594360"/>
          </a:xfrm>
          <a:prstGeom prst="rect">
            <a:avLst/>
          </a:prstGeom>
        </p:spPr>
      </p:pic>
      <p:sp>
        <p:nvSpPr>
          <p:cNvPr id="6" name="Text 3"/>
          <p:cNvSpPr/>
          <p:nvPr/>
        </p:nvSpPr>
        <p:spPr>
          <a:xfrm>
            <a:off x="1645920" y="1993392"/>
            <a:ext cx="4114800" cy="54864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Task 1: Sales &amp; Revenue Dashboard</a:t>
            </a:r>
            <a:endParaRPr lang="en-US" sz="1500" dirty="0"/>
          </a:p>
        </p:txBody>
      </p:sp>
      <p:sp>
        <p:nvSpPr>
          <p:cNvPr id="7" name="Text 4"/>
          <p:cNvSpPr/>
          <p:nvPr/>
        </p:nvSpPr>
        <p:spPr>
          <a:xfrm>
            <a:off x="914400" y="2743200"/>
            <a:ext cx="4846320" cy="1828800"/>
          </a:xfrm>
          <a:prstGeom prst="rect">
            <a:avLst/>
          </a:prstGeom>
          <a:noFill/>
          <a:ln/>
        </p:spPr>
        <p:txBody>
          <a:bodyPr wrap="square" rtlCol="0" anchor="t"/>
          <a:lstStyle/>
          <a:p>
            <a:pPr indent="0" marL="0">
              <a:lnSpc>
                <a:spcPct val="130000"/>
              </a:lnSpc>
              <a:buNone/>
            </a:pPr>
            <a:r>
              <a:rPr lang="en-US" sz="1150" dirty="0">
                <a:solidFill>
                  <a:srgbClr val="22273A"/>
                </a:solidFill>
                <a:latin typeface="Calibri" pitchFamily="34" charset="0"/>
                <a:ea typeface="Calibri" pitchFamily="34" charset="-122"/>
                <a:cs typeface="Calibri" pitchFamily="34" charset="-120"/>
              </a:rPr>
              <a:t>Sales and revenue data was imported from Excel, CSV or a database. KPIs such as total sales, revenue trends, and top-performing products were visualised using charts, filters and slicers for interactive analysis.</a:t>
            </a:r>
            <a:endParaRPr lang="en-US" sz="1150" dirty="0"/>
          </a:p>
        </p:txBody>
      </p:sp>
      <p:sp>
        <p:nvSpPr>
          <p:cNvPr id="8" name="Shape 5"/>
          <p:cNvSpPr/>
          <p:nvPr/>
        </p:nvSpPr>
        <p:spPr>
          <a:xfrm>
            <a:off x="914400" y="4709160"/>
            <a:ext cx="4846320" cy="0"/>
          </a:xfrm>
          <a:prstGeom prst="line">
            <a:avLst/>
          </a:prstGeom>
          <a:noFill/>
          <a:ln w="12700">
            <a:solidFill>
              <a:srgbClr val="D5DBE8"/>
            </a:solidFill>
            <a:prstDash val="solid"/>
          </a:ln>
        </p:spPr>
      </p:sp>
      <p:sp>
        <p:nvSpPr>
          <p:cNvPr id="9" name="Text 6"/>
          <p:cNvSpPr/>
          <p:nvPr/>
        </p:nvSpPr>
        <p:spPr>
          <a:xfrm>
            <a:off x="914400" y="4828032"/>
            <a:ext cx="4846320" cy="274320"/>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OUTCOME</a:t>
            </a:r>
            <a:endParaRPr lang="en-US" sz="1000" dirty="0"/>
          </a:p>
        </p:txBody>
      </p:sp>
      <p:sp>
        <p:nvSpPr>
          <p:cNvPr id="10" name="Text 7"/>
          <p:cNvSpPr/>
          <p:nvPr/>
        </p:nvSpPr>
        <p:spPr>
          <a:xfrm>
            <a:off x="914400" y="5102352"/>
            <a:ext cx="4846320" cy="914400"/>
          </a:xfrm>
          <a:prstGeom prst="rect">
            <a:avLst/>
          </a:prstGeom>
          <a:noFill/>
          <a:ln/>
        </p:spPr>
        <p:txBody>
          <a:bodyPr wrap="square" rtlCol="0" anchor="t"/>
          <a:lstStyle/>
          <a:p>
            <a:pPr indent="0" marL="0">
              <a:lnSpc>
                <a:spcPct val="120000"/>
              </a:lnSpc>
              <a:buNone/>
            </a:pPr>
            <a:r>
              <a:rPr lang="en-US" sz="1100" i="1" dirty="0">
                <a:solidFill>
                  <a:srgbClr val="6B7280"/>
                </a:solidFill>
                <a:latin typeface="Calibri" pitchFamily="34" charset="0"/>
                <a:ea typeface="Calibri" pitchFamily="34" charset="-122"/>
                <a:cs typeface="Calibri" pitchFamily="34" charset="-120"/>
              </a:rPr>
              <a:t>Data visualisation, KPI tracking and business insight generation.</a:t>
            </a:r>
            <a:endParaRPr lang="en-US" sz="1100" dirty="0"/>
          </a:p>
        </p:txBody>
      </p:sp>
      <p:sp>
        <p:nvSpPr>
          <p:cNvPr id="11" name="Shape 8"/>
          <p:cNvSpPr/>
          <p:nvPr/>
        </p:nvSpPr>
        <p:spPr>
          <a:xfrm>
            <a:off x="6263640" y="1691640"/>
            <a:ext cx="5394960" cy="4434840"/>
          </a:xfrm>
          <a:prstGeom prst="roundRect">
            <a:avLst>
              <a:gd name="adj" fmla="val 2062"/>
            </a:avLst>
          </a:prstGeom>
          <a:solidFill>
            <a:srgbClr val="F4F6FB"/>
          </a:solidFill>
          <a:ln/>
        </p:spPr>
      </p:sp>
      <p:pic>
        <p:nvPicPr>
          <p:cNvPr id="12" name="Image 1" descr="icon_segmentation.png">    </p:cNvPr>
          <p:cNvPicPr>
            <a:picLocks noChangeAspect="1"/>
          </p:cNvPicPr>
          <p:nvPr/>
        </p:nvPicPr>
        <p:blipFill>
          <a:blip r:embed="rId2"/>
          <a:stretch>
            <a:fillRect/>
          </a:stretch>
        </p:blipFill>
        <p:spPr>
          <a:xfrm>
            <a:off x="6537960" y="1965960"/>
            <a:ext cx="594360" cy="594360"/>
          </a:xfrm>
          <a:prstGeom prst="rect">
            <a:avLst/>
          </a:prstGeom>
        </p:spPr>
      </p:pic>
      <p:sp>
        <p:nvSpPr>
          <p:cNvPr id="13" name="Text 9"/>
          <p:cNvSpPr/>
          <p:nvPr/>
        </p:nvSpPr>
        <p:spPr>
          <a:xfrm>
            <a:off x="7269480" y="1993392"/>
            <a:ext cx="4114800" cy="54864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Task 2: Customer Segmentation</a:t>
            </a:r>
            <a:endParaRPr lang="en-US" sz="1500" dirty="0"/>
          </a:p>
        </p:txBody>
      </p:sp>
      <p:sp>
        <p:nvSpPr>
          <p:cNvPr id="14" name="Text 10"/>
          <p:cNvSpPr/>
          <p:nvPr/>
        </p:nvSpPr>
        <p:spPr>
          <a:xfrm>
            <a:off x="6537960" y="2743200"/>
            <a:ext cx="4846320" cy="1828800"/>
          </a:xfrm>
          <a:prstGeom prst="rect">
            <a:avLst/>
          </a:prstGeom>
          <a:noFill/>
          <a:ln/>
        </p:spPr>
        <p:txBody>
          <a:bodyPr wrap="square" rtlCol="0" anchor="t"/>
          <a:lstStyle/>
          <a:p>
            <a:pPr indent="0" marL="0">
              <a:lnSpc>
                <a:spcPct val="130000"/>
              </a:lnSpc>
              <a:buNone/>
            </a:pPr>
            <a:r>
              <a:rPr lang="en-US" sz="1150" dirty="0">
                <a:solidFill>
                  <a:srgbClr val="22273A"/>
                </a:solidFill>
                <a:latin typeface="Calibri" pitchFamily="34" charset="0"/>
                <a:ea typeface="Calibri" pitchFamily="34" charset="-122"/>
                <a:cs typeface="Calibri" pitchFamily="34" charset="-120"/>
              </a:rPr>
              <a:t>Customers were segmented by behaviour and demographics using clustering (scikit-learn / Power BI). Purchase patterns and preferences were analysed, and segment characteristics were visualised.</a:t>
            </a:r>
            <a:endParaRPr lang="en-US" sz="1150" dirty="0"/>
          </a:p>
        </p:txBody>
      </p:sp>
      <p:sp>
        <p:nvSpPr>
          <p:cNvPr id="15" name="Shape 11"/>
          <p:cNvSpPr/>
          <p:nvPr/>
        </p:nvSpPr>
        <p:spPr>
          <a:xfrm>
            <a:off x="6537960" y="4709160"/>
            <a:ext cx="4846320" cy="0"/>
          </a:xfrm>
          <a:prstGeom prst="line">
            <a:avLst/>
          </a:prstGeom>
          <a:noFill/>
          <a:ln w="12700">
            <a:solidFill>
              <a:srgbClr val="D5DBE8"/>
            </a:solidFill>
            <a:prstDash val="solid"/>
          </a:ln>
        </p:spPr>
      </p:sp>
      <p:sp>
        <p:nvSpPr>
          <p:cNvPr id="16" name="Text 12"/>
          <p:cNvSpPr/>
          <p:nvPr/>
        </p:nvSpPr>
        <p:spPr>
          <a:xfrm>
            <a:off x="6537960" y="4828032"/>
            <a:ext cx="4846320" cy="274320"/>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OUTCOME</a:t>
            </a:r>
            <a:endParaRPr lang="en-US" sz="1000" dirty="0"/>
          </a:p>
        </p:txBody>
      </p:sp>
      <p:sp>
        <p:nvSpPr>
          <p:cNvPr id="17" name="Text 13"/>
          <p:cNvSpPr/>
          <p:nvPr/>
        </p:nvSpPr>
        <p:spPr>
          <a:xfrm>
            <a:off x="6537960" y="5102352"/>
            <a:ext cx="4846320" cy="914400"/>
          </a:xfrm>
          <a:prstGeom prst="rect">
            <a:avLst/>
          </a:prstGeom>
          <a:noFill/>
          <a:ln/>
        </p:spPr>
        <p:txBody>
          <a:bodyPr wrap="square" rtlCol="0" anchor="t"/>
          <a:lstStyle/>
          <a:p>
            <a:pPr indent="0" marL="0">
              <a:lnSpc>
                <a:spcPct val="120000"/>
              </a:lnSpc>
              <a:buNone/>
            </a:pPr>
            <a:r>
              <a:rPr lang="en-US" sz="1100" i="1" dirty="0">
                <a:solidFill>
                  <a:srgbClr val="6B7280"/>
                </a:solidFill>
                <a:latin typeface="Calibri" pitchFamily="34" charset="0"/>
                <a:ea typeface="Calibri" pitchFamily="34" charset="-122"/>
                <a:cs typeface="Calibri" pitchFamily="34" charset="-120"/>
              </a:rPr>
              <a:t>Customer analytics, segmentation and targeted insights.</a:t>
            </a:r>
            <a:endParaRPr lang="en-US" sz="1100" dirty="0"/>
          </a:p>
        </p:txBody>
      </p:sp>
      <p:sp>
        <p:nvSpPr>
          <p:cNvPr id="18" name="Text 14"/>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Thiranex Data Analytics Internship  •  Amit Kushwaha</a:t>
            </a:r>
            <a:endParaRPr lang="en-US" sz="900" dirty="0"/>
          </a:p>
        </p:txBody>
      </p:sp>
      <p:sp>
        <p:nvSpPr>
          <p:cNvPr id="19" name="Text 1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4.8 — TASK 3 &amp; 4</a:t>
            </a:r>
            <a:endParaRPr lang="en-US" sz="1300" dirty="0"/>
          </a:p>
        </p:txBody>
      </p:sp>
      <p:sp>
        <p:nvSpPr>
          <p:cNvPr id="3" name="Text 1"/>
          <p:cNvSpPr/>
          <p:nvPr/>
        </p:nvSpPr>
        <p:spPr>
          <a:xfrm>
            <a:off x="640080" y="713232"/>
            <a:ext cx="1051560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Methodology</a:t>
            </a:r>
            <a:endParaRPr lang="en-US" sz="3000" dirty="0"/>
          </a:p>
        </p:txBody>
      </p:sp>
      <p:sp>
        <p:nvSpPr>
          <p:cNvPr id="4" name="Shape 2"/>
          <p:cNvSpPr/>
          <p:nvPr/>
        </p:nvSpPr>
        <p:spPr>
          <a:xfrm>
            <a:off x="640080" y="1691640"/>
            <a:ext cx="5394960" cy="4434840"/>
          </a:xfrm>
          <a:prstGeom prst="roundRect">
            <a:avLst>
              <a:gd name="adj" fmla="val 2062"/>
            </a:avLst>
          </a:prstGeom>
          <a:solidFill>
            <a:srgbClr val="F4F6FB"/>
          </a:solidFill>
          <a:ln/>
        </p:spPr>
      </p:sp>
      <p:pic>
        <p:nvPicPr>
          <p:cNvPr id="5" name="Image 0" descr="icon_predictive.png">    </p:cNvPr>
          <p:cNvPicPr>
            <a:picLocks noChangeAspect="1"/>
          </p:cNvPicPr>
          <p:nvPr/>
        </p:nvPicPr>
        <p:blipFill>
          <a:blip r:embed="rId1"/>
          <a:stretch>
            <a:fillRect/>
          </a:stretch>
        </p:blipFill>
        <p:spPr>
          <a:xfrm>
            <a:off x="914400" y="1965960"/>
            <a:ext cx="594360" cy="594360"/>
          </a:xfrm>
          <a:prstGeom prst="rect">
            <a:avLst/>
          </a:prstGeom>
        </p:spPr>
      </p:pic>
      <p:sp>
        <p:nvSpPr>
          <p:cNvPr id="6" name="Text 3"/>
          <p:cNvSpPr/>
          <p:nvPr/>
        </p:nvSpPr>
        <p:spPr>
          <a:xfrm>
            <a:off x="1645920" y="1993392"/>
            <a:ext cx="4114800" cy="54864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Task 3: Predictive Analytics</a:t>
            </a:r>
            <a:endParaRPr lang="en-US" sz="1500" dirty="0"/>
          </a:p>
        </p:txBody>
      </p:sp>
      <p:sp>
        <p:nvSpPr>
          <p:cNvPr id="7" name="Text 4"/>
          <p:cNvSpPr/>
          <p:nvPr/>
        </p:nvSpPr>
        <p:spPr>
          <a:xfrm>
            <a:off x="914400" y="2743200"/>
            <a:ext cx="4846320" cy="1828800"/>
          </a:xfrm>
          <a:prstGeom prst="rect">
            <a:avLst/>
          </a:prstGeom>
          <a:noFill/>
          <a:ln/>
        </p:spPr>
        <p:txBody>
          <a:bodyPr wrap="square" rtlCol="0" anchor="t"/>
          <a:lstStyle/>
          <a:p>
            <a:pPr indent="0" marL="0">
              <a:lnSpc>
                <a:spcPct val="130000"/>
              </a:lnSpc>
              <a:buNone/>
            </a:pPr>
            <a:r>
              <a:rPr lang="en-US" sz="1150" dirty="0">
                <a:solidFill>
                  <a:srgbClr val="22273A"/>
                </a:solidFill>
                <a:latin typeface="Calibri" pitchFamily="34" charset="0"/>
                <a:ea typeface="Calibri" pitchFamily="34" charset="-122"/>
                <a:cs typeface="Calibri" pitchFamily="34" charset="-120"/>
              </a:rPr>
              <a:t>A predictive model was built using regression or time-series techniques to forecast future trends. Historical datasets were cleaned and preprocessed before training, and predictions were evaluated and visualised.</a:t>
            </a:r>
            <a:endParaRPr lang="en-US" sz="1150" dirty="0"/>
          </a:p>
        </p:txBody>
      </p:sp>
      <p:sp>
        <p:nvSpPr>
          <p:cNvPr id="8" name="Shape 5"/>
          <p:cNvSpPr/>
          <p:nvPr/>
        </p:nvSpPr>
        <p:spPr>
          <a:xfrm>
            <a:off x="914400" y="4709160"/>
            <a:ext cx="4846320" cy="0"/>
          </a:xfrm>
          <a:prstGeom prst="line">
            <a:avLst/>
          </a:prstGeom>
          <a:noFill/>
          <a:ln w="12700">
            <a:solidFill>
              <a:srgbClr val="D5DBE8"/>
            </a:solidFill>
            <a:prstDash val="solid"/>
          </a:ln>
        </p:spPr>
      </p:sp>
      <p:sp>
        <p:nvSpPr>
          <p:cNvPr id="9" name="Text 6"/>
          <p:cNvSpPr/>
          <p:nvPr/>
        </p:nvSpPr>
        <p:spPr>
          <a:xfrm>
            <a:off x="914400" y="4828032"/>
            <a:ext cx="4846320" cy="274320"/>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OUTCOME</a:t>
            </a:r>
            <a:endParaRPr lang="en-US" sz="1000" dirty="0"/>
          </a:p>
        </p:txBody>
      </p:sp>
      <p:sp>
        <p:nvSpPr>
          <p:cNvPr id="10" name="Text 7"/>
          <p:cNvSpPr/>
          <p:nvPr/>
        </p:nvSpPr>
        <p:spPr>
          <a:xfrm>
            <a:off x="914400" y="5102352"/>
            <a:ext cx="4846320" cy="914400"/>
          </a:xfrm>
          <a:prstGeom prst="rect">
            <a:avLst/>
          </a:prstGeom>
          <a:noFill/>
          <a:ln/>
        </p:spPr>
        <p:txBody>
          <a:bodyPr wrap="square" rtlCol="0" anchor="t"/>
          <a:lstStyle/>
          <a:p>
            <a:pPr indent="0" marL="0">
              <a:lnSpc>
                <a:spcPct val="120000"/>
              </a:lnSpc>
              <a:buNone/>
            </a:pPr>
            <a:r>
              <a:rPr lang="en-US" sz="1100" i="1" dirty="0">
                <a:solidFill>
                  <a:srgbClr val="6B7280"/>
                </a:solidFill>
                <a:latin typeface="Calibri" pitchFamily="34" charset="0"/>
                <a:ea typeface="Calibri" pitchFamily="34" charset="-122"/>
                <a:cs typeface="Calibri" pitchFamily="34" charset="-120"/>
              </a:rPr>
              <a:t>Predictive modelling, trend analysis and data-driven forecasting.</a:t>
            </a:r>
            <a:endParaRPr lang="en-US" sz="1100" dirty="0"/>
          </a:p>
        </p:txBody>
      </p:sp>
      <p:sp>
        <p:nvSpPr>
          <p:cNvPr id="11" name="Shape 8"/>
          <p:cNvSpPr/>
          <p:nvPr/>
        </p:nvSpPr>
        <p:spPr>
          <a:xfrm>
            <a:off x="6263640" y="1691640"/>
            <a:ext cx="5394960" cy="4434840"/>
          </a:xfrm>
          <a:prstGeom prst="roundRect">
            <a:avLst>
              <a:gd name="adj" fmla="val 2062"/>
            </a:avLst>
          </a:prstGeom>
          <a:solidFill>
            <a:srgbClr val="F4F6FB"/>
          </a:solidFill>
          <a:ln/>
        </p:spPr>
      </p:sp>
      <p:pic>
        <p:nvPicPr>
          <p:cNvPr id="12" name="Image 1" descr="icon_cleaning.png">    </p:cNvPr>
          <p:cNvPicPr>
            <a:picLocks noChangeAspect="1"/>
          </p:cNvPicPr>
          <p:nvPr/>
        </p:nvPicPr>
        <p:blipFill>
          <a:blip r:embed="rId2"/>
          <a:stretch>
            <a:fillRect/>
          </a:stretch>
        </p:blipFill>
        <p:spPr>
          <a:xfrm>
            <a:off x="6537960" y="1965960"/>
            <a:ext cx="594360" cy="594360"/>
          </a:xfrm>
          <a:prstGeom prst="rect">
            <a:avLst/>
          </a:prstGeom>
        </p:spPr>
      </p:pic>
      <p:sp>
        <p:nvSpPr>
          <p:cNvPr id="13" name="Text 9"/>
          <p:cNvSpPr/>
          <p:nvPr/>
        </p:nvSpPr>
        <p:spPr>
          <a:xfrm>
            <a:off x="7269480" y="1993392"/>
            <a:ext cx="4114800" cy="54864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Task 4: Cleaning &amp; Reporting Automation</a:t>
            </a:r>
            <a:endParaRPr lang="en-US" sz="1500" dirty="0"/>
          </a:p>
        </p:txBody>
      </p:sp>
      <p:sp>
        <p:nvSpPr>
          <p:cNvPr id="14" name="Text 10"/>
          <p:cNvSpPr/>
          <p:nvPr/>
        </p:nvSpPr>
        <p:spPr>
          <a:xfrm>
            <a:off x="6537960" y="2743200"/>
            <a:ext cx="4846320" cy="1828800"/>
          </a:xfrm>
          <a:prstGeom prst="rect">
            <a:avLst/>
          </a:prstGeom>
          <a:noFill/>
          <a:ln/>
        </p:spPr>
        <p:txBody>
          <a:bodyPr wrap="square" rtlCol="0" anchor="t"/>
          <a:lstStyle/>
          <a:p>
            <a:pPr indent="0" marL="0">
              <a:lnSpc>
                <a:spcPct val="130000"/>
              </a:lnSpc>
              <a:buNone/>
            </a:pPr>
            <a:r>
              <a:rPr lang="en-US" sz="1150" dirty="0">
                <a:solidFill>
                  <a:srgbClr val="22273A"/>
                </a:solidFill>
                <a:latin typeface="Calibri" pitchFamily="34" charset="0"/>
                <a:ea typeface="Calibri" pitchFamily="34" charset="-122"/>
                <a:cs typeface="Calibri" pitchFamily="34" charset="-120"/>
              </a:rPr>
              <a:t>Data cleaning and reporting workflows were automated using Python, Excel or Power BI. Missing values, duplicates and inconsistent data were handled, and automated reports and visual summaries were generated.</a:t>
            </a:r>
            <a:endParaRPr lang="en-US" sz="1150" dirty="0"/>
          </a:p>
        </p:txBody>
      </p:sp>
      <p:sp>
        <p:nvSpPr>
          <p:cNvPr id="15" name="Shape 11"/>
          <p:cNvSpPr/>
          <p:nvPr/>
        </p:nvSpPr>
        <p:spPr>
          <a:xfrm>
            <a:off x="6537960" y="4709160"/>
            <a:ext cx="4846320" cy="0"/>
          </a:xfrm>
          <a:prstGeom prst="line">
            <a:avLst/>
          </a:prstGeom>
          <a:noFill/>
          <a:ln w="12700">
            <a:solidFill>
              <a:srgbClr val="D5DBE8"/>
            </a:solidFill>
            <a:prstDash val="solid"/>
          </a:ln>
        </p:spPr>
      </p:sp>
      <p:sp>
        <p:nvSpPr>
          <p:cNvPr id="16" name="Text 12"/>
          <p:cNvSpPr/>
          <p:nvPr/>
        </p:nvSpPr>
        <p:spPr>
          <a:xfrm>
            <a:off x="6537960" y="4828032"/>
            <a:ext cx="4846320" cy="274320"/>
          </a:xfrm>
          <a:prstGeom prst="rect">
            <a:avLst/>
          </a:prstGeom>
          <a:noFill/>
          <a:ln/>
        </p:spPr>
        <p:txBody>
          <a:bodyPr wrap="square"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OUTCOME</a:t>
            </a:r>
            <a:endParaRPr lang="en-US" sz="1000" dirty="0"/>
          </a:p>
        </p:txBody>
      </p:sp>
      <p:sp>
        <p:nvSpPr>
          <p:cNvPr id="17" name="Text 13"/>
          <p:cNvSpPr/>
          <p:nvPr/>
        </p:nvSpPr>
        <p:spPr>
          <a:xfrm>
            <a:off x="6537960" y="5102352"/>
            <a:ext cx="4846320" cy="914400"/>
          </a:xfrm>
          <a:prstGeom prst="rect">
            <a:avLst/>
          </a:prstGeom>
          <a:noFill/>
          <a:ln/>
        </p:spPr>
        <p:txBody>
          <a:bodyPr wrap="square" rtlCol="0" anchor="t"/>
          <a:lstStyle/>
          <a:p>
            <a:pPr indent="0" marL="0">
              <a:lnSpc>
                <a:spcPct val="120000"/>
              </a:lnSpc>
              <a:buNone/>
            </a:pPr>
            <a:r>
              <a:rPr lang="en-US" sz="1100" i="1" dirty="0">
                <a:solidFill>
                  <a:srgbClr val="6B7280"/>
                </a:solidFill>
                <a:latin typeface="Calibri" pitchFamily="34" charset="0"/>
                <a:ea typeface="Calibri" pitchFamily="34" charset="-122"/>
                <a:cs typeface="Calibri" pitchFamily="34" charset="-120"/>
              </a:rPr>
              <a:t>Data preprocessing, automation and reporting efficiency.</a:t>
            </a:r>
            <a:endParaRPr lang="en-US" sz="1100" dirty="0"/>
          </a:p>
        </p:txBody>
      </p:sp>
      <p:sp>
        <p:nvSpPr>
          <p:cNvPr id="18" name="Text 14"/>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Thiranex Data Analytics Internship  •  Amit Kushwaha</a:t>
            </a:r>
            <a:endParaRPr lang="en-US" sz="900" dirty="0"/>
          </a:p>
        </p:txBody>
      </p:sp>
      <p:sp>
        <p:nvSpPr>
          <p:cNvPr id="19" name="Text 1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4.9</a:t>
            </a:r>
            <a:endParaRPr lang="en-US" sz="1300" dirty="0"/>
          </a:p>
        </p:txBody>
      </p:sp>
      <p:sp>
        <p:nvSpPr>
          <p:cNvPr id="3" name="Text 1"/>
          <p:cNvSpPr/>
          <p:nvPr/>
        </p:nvSpPr>
        <p:spPr>
          <a:xfrm>
            <a:off x="640080" y="713232"/>
            <a:ext cx="1051560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Expected Outcomes</a:t>
            </a:r>
            <a:endParaRPr lang="en-US" sz="3000" dirty="0"/>
          </a:p>
        </p:txBody>
      </p:sp>
      <p:sp>
        <p:nvSpPr>
          <p:cNvPr id="4" name="Shape 2"/>
          <p:cNvSpPr/>
          <p:nvPr/>
        </p:nvSpPr>
        <p:spPr>
          <a:xfrm>
            <a:off x="640080" y="1691640"/>
            <a:ext cx="5257800" cy="896112"/>
          </a:xfrm>
          <a:prstGeom prst="roundRect">
            <a:avLst>
              <a:gd name="adj" fmla="val 8163"/>
            </a:avLst>
          </a:prstGeom>
          <a:solidFill>
            <a:srgbClr val="F4F6FB"/>
          </a:solidFill>
          <a:ln/>
        </p:spPr>
      </p:sp>
      <p:pic>
        <p:nvPicPr>
          <p:cNvPr id="5" name="Image 0" descr="icon_outcomes.png">    </p:cNvPr>
          <p:cNvPicPr>
            <a:picLocks noChangeAspect="1"/>
          </p:cNvPicPr>
          <p:nvPr/>
        </p:nvPicPr>
        <p:blipFill>
          <a:blip r:embed="rId1"/>
          <a:stretch>
            <a:fillRect/>
          </a:stretch>
        </p:blipFill>
        <p:spPr>
          <a:xfrm>
            <a:off x="786384" y="1865376"/>
            <a:ext cx="548640" cy="548640"/>
          </a:xfrm>
          <a:prstGeom prst="rect">
            <a:avLst/>
          </a:prstGeom>
        </p:spPr>
      </p:pic>
      <p:sp>
        <p:nvSpPr>
          <p:cNvPr id="6" name="Text 3"/>
          <p:cNvSpPr/>
          <p:nvPr/>
        </p:nvSpPr>
        <p:spPr>
          <a:xfrm>
            <a:off x="1463040" y="1764792"/>
            <a:ext cx="4251960" cy="749808"/>
          </a:xfrm>
          <a:prstGeom prst="rect">
            <a:avLst/>
          </a:prstGeom>
          <a:noFill/>
          <a:ln/>
        </p:spPr>
        <p:txBody>
          <a:bodyPr wrap="square" rtlCol="0" anchor="ctr"/>
          <a:lstStyle/>
          <a:p>
            <a:pPr indent="0" marL="0">
              <a:lnSpc>
                <a:spcPct val="115000"/>
              </a:lnSpc>
              <a:buNone/>
            </a:pPr>
            <a:r>
              <a:rPr lang="en-US" sz="1150" dirty="0">
                <a:solidFill>
                  <a:srgbClr val="22273A"/>
                </a:solidFill>
                <a:latin typeface="Calibri" pitchFamily="34" charset="0"/>
                <a:ea typeface="Calibri" pitchFamily="34" charset="-122"/>
                <a:cs typeface="Calibri" pitchFamily="34" charset="-120"/>
              </a:rPr>
              <a:t>Improved understanding of dashboard design &amp; KPI visualisation</a:t>
            </a:r>
            <a:endParaRPr lang="en-US" sz="1150" dirty="0"/>
          </a:p>
        </p:txBody>
      </p:sp>
      <p:sp>
        <p:nvSpPr>
          <p:cNvPr id="7" name="Shape 4"/>
          <p:cNvSpPr/>
          <p:nvPr/>
        </p:nvSpPr>
        <p:spPr>
          <a:xfrm>
            <a:off x="6263640" y="1691640"/>
            <a:ext cx="5257800" cy="896112"/>
          </a:xfrm>
          <a:prstGeom prst="roundRect">
            <a:avLst>
              <a:gd name="adj" fmla="val 8163"/>
            </a:avLst>
          </a:prstGeom>
          <a:solidFill>
            <a:srgbClr val="F4F6FB"/>
          </a:solidFill>
          <a:ln/>
        </p:spPr>
      </p:sp>
      <p:pic>
        <p:nvPicPr>
          <p:cNvPr id="8" name="Image 1" descr="icon_outcomes.png">    </p:cNvPr>
          <p:cNvPicPr>
            <a:picLocks noChangeAspect="1"/>
          </p:cNvPicPr>
          <p:nvPr/>
        </p:nvPicPr>
        <p:blipFill>
          <a:blip r:embed="rId2"/>
          <a:stretch>
            <a:fillRect/>
          </a:stretch>
        </p:blipFill>
        <p:spPr>
          <a:xfrm>
            <a:off x="6409944" y="1865376"/>
            <a:ext cx="548640" cy="548640"/>
          </a:xfrm>
          <a:prstGeom prst="rect">
            <a:avLst/>
          </a:prstGeom>
        </p:spPr>
      </p:pic>
      <p:sp>
        <p:nvSpPr>
          <p:cNvPr id="9" name="Text 5"/>
          <p:cNvSpPr/>
          <p:nvPr/>
        </p:nvSpPr>
        <p:spPr>
          <a:xfrm>
            <a:off x="7086600" y="1764792"/>
            <a:ext cx="4251960" cy="749808"/>
          </a:xfrm>
          <a:prstGeom prst="rect">
            <a:avLst/>
          </a:prstGeom>
          <a:noFill/>
          <a:ln/>
        </p:spPr>
        <p:txBody>
          <a:bodyPr wrap="square" rtlCol="0" anchor="ctr"/>
          <a:lstStyle/>
          <a:p>
            <a:pPr indent="0" marL="0">
              <a:lnSpc>
                <a:spcPct val="115000"/>
              </a:lnSpc>
              <a:buNone/>
            </a:pPr>
            <a:r>
              <a:rPr lang="en-US" sz="1150" dirty="0">
                <a:solidFill>
                  <a:srgbClr val="22273A"/>
                </a:solidFill>
                <a:latin typeface="Calibri" pitchFamily="34" charset="0"/>
                <a:ea typeface="Calibri" pitchFamily="34" charset="-122"/>
                <a:cs typeface="Calibri" pitchFamily="34" charset="-120"/>
              </a:rPr>
              <a:t>Ability to import, consolidate and visualise sales data</a:t>
            </a:r>
            <a:endParaRPr lang="en-US" sz="1150" dirty="0"/>
          </a:p>
        </p:txBody>
      </p:sp>
      <p:sp>
        <p:nvSpPr>
          <p:cNvPr id="10" name="Shape 6"/>
          <p:cNvSpPr/>
          <p:nvPr/>
        </p:nvSpPr>
        <p:spPr>
          <a:xfrm>
            <a:off x="640080" y="2788920"/>
            <a:ext cx="5257800" cy="896112"/>
          </a:xfrm>
          <a:prstGeom prst="roundRect">
            <a:avLst>
              <a:gd name="adj" fmla="val 8163"/>
            </a:avLst>
          </a:prstGeom>
          <a:solidFill>
            <a:srgbClr val="F4F6FB"/>
          </a:solidFill>
          <a:ln/>
        </p:spPr>
      </p:sp>
      <p:pic>
        <p:nvPicPr>
          <p:cNvPr id="11" name="Image 2" descr="icon_outcomes.png">    </p:cNvPr>
          <p:cNvPicPr>
            <a:picLocks noChangeAspect="1"/>
          </p:cNvPicPr>
          <p:nvPr/>
        </p:nvPicPr>
        <p:blipFill>
          <a:blip r:embed="rId3"/>
          <a:stretch>
            <a:fillRect/>
          </a:stretch>
        </p:blipFill>
        <p:spPr>
          <a:xfrm>
            <a:off x="786384" y="2962656"/>
            <a:ext cx="548640" cy="548640"/>
          </a:xfrm>
          <a:prstGeom prst="rect">
            <a:avLst/>
          </a:prstGeom>
        </p:spPr>
      </p:pic>
      <p:sp>
        <p:nvSpPr>
          <p:cNvPr id="12" name="Text 7"/>
          <p:cNvSpPr/>
          <p:nvPr/>
        </p:nvSpPr>
        <p:spPr>
          <a:xfrm>
            <a:off x="1463040" y="2862072"/>
            <a:ext cx="4251960" cy="749808"/>
          </a:xfrm>
          <a:prstGeom prst="rect">
            <a:avLst/>
          </a:prstGeom>
          <a:noFill/>
          <a:ln/>
        </p:spPr>
        <p:txBody>
          <a:bodyPr wrap="square" rtlCol="0" anchor="ctr"/>
          <a:lstStyle/>
          <a:p>
            <a:pPr indent="0" marL="0">
              <a:lnSpc>
                <a:spcPct val="115000"/>
              </a:lnSpc>
              <a:buNone/>
            </a:pPr>
            <a:r>
              <a:rPr lang="en-US" sz="1150" dirty="0">
                <a:solidFill>
                  <a:srgbClr val="22273A"/>
                </a:solidFill>
                <a:latin typeface="Calibri" pitchFamily="34" charset="0"/>
                <a:ea typeface="Calibri" pitchFamily="34" charset="-122"/>
                <a:cs typeface="Calibri" pitchFamily="34" charset="-120"/>
              </a:rPr>
              <a:t>Practical experience in customer segmentation (clustering)</a:t>
            </a:r>
            <a:endParaRPr lang="en-US" sz="1150" dirty="0"/>
          </a:p>
        </p:txBody>
      </p:sp>
      <p:sp>
        <p:nvSpPr>
          <p:cNvPr id="13" name="Shape 8"/>
          <p:cNvSpPr/>
          <p:nvPr/>
        </p:nvSpPr>
        <p:spPr>
          <a:xfrm>
            <a:off x="6263640" y="2788920"/>
            <a:ext cx="5257800" cy="896112"/>
          </a:xfrm>
          <a:prstGeom prst="roundRect">
            <a:avLst>
              <a:gd name="adj" fmla="val 8163"/>
            </a:avLst>
          </a:prstGeom>
          <a:solidFill>
            <a:srgbClr val="F4F6FB"/>
          </a:solidFill>
          <a:ln/>
        </p:spPr>
      </p:sp>
      <p:pic>
        <p:nvPicPr>
          <p:cNvPr id="14" name="Image 3" descr="icon_outcomes.png">    </p:cNvPr>
          <p:cNvPicPr>
            <a:picLocks noChangeAspect="1"/>
          </p:cNvPicPr>
          <p:nvPr/>
        </p:nvPicPr>
        <p:blipFill>
          <a:blip r:embed="rId4"/>
          <a:stretch>
            <a:fillRect/>
          </a:stretch>
        </p:blipFill>
        <p:spPr>
          <a:xfrm>
            <a:off x="6409944" y="2962656"/>
            <a:ext cx="548640" cy="548640"/>
          </a:xfrm>
          <a:prstGeom prst="rect">
            <a:avLst/>
          </a:prstGeom>
        </p:spPr>
      </p:pic>
      <p:sp>
        <p:nvSpPr>
          <p:cNvPr id="15" name="Text 9"/>
          <p:cNvSpPr/>
          <p:nvPr/>
        </p:nvSpPr>
        <p:spPr>
          <a:xfrm>
            <a:off x="7086600" y="2862072"/>
            <a:ext cx="4251960" cy="749808"/>
          </a:xfrm>
          <a:prstGeom prst="rect">
            <a:avLst/>
          </a:prstGeom>
          <a:noFill/>
          <a:ln/>
        </p:spPr>
        <p:txBody>
          <a:bodyPr wrap="square" rtlCol="0" anchor="ctr"/>
          <a:lstStyle/>
          <a:p>
            <a:pPr indent="0" marL="0">
              <a:lnSpc>
                <a:spcPct val="115000"/>
              </a:lnSpc>
              <a:buNone/>
            </a:pPr>
            <a:r>
              <a:rPr lang="en-US" sz="1150" dirty="0">
                <a:solidFill>
                  <a:srgbClr val="22273A"/>
                </a:solidFill>
                <a:latin typeface="Calibri" pitchFamily="34" charset="0"/>
                <a:ea typeface="Calibri" pitchFamily="34" charset="-122"/>
                <a:cs typeface="Calibri" pitchFamily="34" charset="-120"/>
              </a:rPr>
              <a:t>Improved understanding of purchase-pattern analytics</a:t>
            </a:r>
            <a:endParaRPr lang="en-US" sz="1150" dirty="0"/>
          </a:p>
        </p:txBody>
      </p:sp>
      <p:sp>
        <p:nvSpPr>
          <p:cNvPr id="16" name="Shape 10"/>
          <p:cNvSpPr/>
          <p:nvPr/>
        </p:nvSpPr>
        <p:spPr>
          <a:xfrm>
            <a:off x="640080" y="3886200"/>
            <a:ext cx="5257800" cy="896112"/>
          </a:xfrm>
          <a:prstGeom prst="roundRect">
            <a:avLst>
              <a:gd name="adj" fmla="val 8163"/>
            </a:avLst>
          </a:prstGeom>
          <a:solidFill>
            <a:srgbClr val="F4F6FB"/>
          </a:solidFill>
          <a:ln/>
        </p:spPr>
      </p:sp>
      <p:pic>
        <p:nvPicPr>
          <p:cNvPr id="17" name="Image 4" descr="icon_outcomes.png">    </p:cNvPr>
          <p:cNvPicPr>
            <a:picLocks noChangeAspect="1"/>
          </p:cNvPicPr>
          <p:nvPr/>
        </p:nvPicPr>
        <p:blipFill>
          <a:blip r:embed="rId5"/>
          <a:stretch>
            <a:fillRect/>
          </a:stretch>
        </p:blipFill>
        <p:spPr>
          <a:xfrm>
            <a:off x="786384" y="4059936"/>
            <a:ext cx="548640" cy="548640"/>
          </a:xfrm>
          <a:prstGeom prst="rect">
            <a:avLst/>
          </a:prstGeom>
        </p:spPr>
      </p:pic>
      <p:sp>
        <p:nvSpPr>
          <p:cNvPr id="18" name="Text 11"/>
          <p:cNvSpPr/>
          <p:nvPr/>
        </p:nvSpPr>
        <p:spPr>
          <a:xfrm>
            <a:off x="1463040" y="3959352"/>
            <a:ext cx="4251960" cy="749808"/>
          </a:xfrm>
          <a:prstGeom prst="rect">
            <a:avLst/>
          </a:prstGeom>
          <a:noFill/>
          <a:ln/>
        </p:spPr>
        <p:txBody>
          <a:bodyPr wrap="square" rtlCol="0" anchor="ctr"/>
          <a:lstStyle/>
          <a:p>
            <a:pPr indent="0" marL="0">
              <a:lnSpc>
                <a:spcPct val="115000"/>
              </a:lnSpc>
              <a:buNone/>
            </a:pPr>
            <a:r>
              <a:rPr lang="en-US" sz="1150" dirty="0">
                <a:solidFill>
                  <a:srgbClr val="22273A"/>
                </a:solidFill>
                <a:latin typeface="Calibri" pitchFamily="34" charset="0"/>
                <a:ea typeface="Calibri" pitchFamily="34" charset="-122"/>
                <a:cs typeface="Calibri" pitchFamily="34" charset="-120"/>
              </a:rPr>
              <a:t>Ability to build and evaluate predictive models</a:t>
            </a:r>
            <a:endParaRPr lang="en-US" sz="1150" dirty="0"/>
          </a:p>
        </p:txBody>
      </p:sp>
      <p:sp>
        <p:nvSpPr>
          <p:cNvPr id="19" name="Shape 12"/>
          <p:cNvSpPr/>
          <p:nvPr/>
        </p:nvSpPr>
        <p:spPr>
          <a:xfrm>
            <a:off x="6263640" y="3886200"/>
            <a:ext cx="5257800" cy="896112"/>
          </a:xfrm>
          <a:prstGeom prst="roundRect">
            <a:avLst>
              <a:gd name="adj" fmla="val 8163"/>
            </a:avLst>
          </a:prstGeom>
          <a:solidFill>
            <a:srgbClr val="F4F6FB"/>
          </a:solidFill>
          <a:ln/>
        </p:spPr>
      </p:sp>
      <p:pic>
        <p:nvPicPr>
          <p:cNvPr id="20" name="Image 5" descr="icon_outcomes.png">    </p:cNvPr>
          <p:cNvPicPr>
            <a:picLocks noChangeAspect="1"/>
          </p:cNvPicPr>
          <p:nvPr/>
        </p:nvPicPr>
        <p:blipFill>
          <a:blip r:embed="rId6"/>
          <a:stretch>
            <a:fillRect/>
          </a:stretch>
        </p:blipFill>
        <p:spPr>
          <a:xfrm>
            <a:off x="6409944" y="4059936"/>
            <a:ext cx="548640" cy="548640"/>
          </a:xfrm>
          <a:prstGeom prst="rect">
            <a:avLst/>
          </a:prstGeom>
        </p:spPr>
      </p:pic>
      <p:sp>
        <p:nvSpPr>
          <p:cNvPr id="21" name="Text 13"/>
          <p:cNvSpPr/>
          <p:nvPr/>
        </p:nvSpPr>
        <p:spPr>
          <a:xfrm>
            <a:off x="7086600" y="3959352"/>
            <a:ext cx="4251960" cy="749808"/>
          </a:xfrm>
          <a:prstGeom prst="rect">
            <a:avLst/>
          </a:prstGeom>
          <a:noFill/>
          <a:ln/>
        </p:spPr>
        <p:txBody>
          <a:bodyPr wrap="square" rtlCol="0" anchor="ctr"/>
          <a:lstStyle/>
          <a:p>
            <a:pPr indent="0" marL="0">
              <a:lnSpc>
                <a:spcPct val="115000"/>
              </a:lnSpc>
              <a:buNone/>
            </a:pPr>
            <a:r>
              <a:rPr lang="en-US" sz="1150" dirty="0">
                <a:solidFill>
                  <a:srgbClr val="22273A"/>
                </a:solidFill>
                <a:latin typeface="Calibri" pitchFamily="34" charset="0"/>
                <a:ea typeface="Calibri" pitchFamily="34" charset="-122"/>
                <a:cs typeface="Calibri" pitchFamily="34" charset="-120"/>
              </a:rPr>
              <a:t>Practical experience preprocessing historical datasets</a:t>
            </a:r>
            <a:endParaRPr lang="en-US" sz="1150" dirty="0"/>
          </a:p>
        </p:txBody>
      </p:sp>
      <p:sp>
        <p:nvSpPr>
          <p:cNvPr id="22" name="Shape 14"/>
          <p:cNvSpPr/>
          <p:nvPr/>
        </p:nvSpPr>
        <p:spPr>
          <a:xfrm>
            <a:off x="640080" y="4983480"/>
            <a:ext cx="5257800" cy="896112"/>
          </a:xfrm>
          <a:prstGeom prst="roundRect">
            <a:avLst>
              <a:gd name="adj" fmla="val 8163"/>
            </a:avLst>
          </a:prstGeom>
          <a:solidFill>
            <a:srgbClr val="F4F6FB"/>
          </a:solidFill>
          <a:ln/>
        </p:spPr>
      </p:sp>
      <p:pic>
        <p:nvPicPr>
          <p:cNvPr id="23" name="Image 6" descr="icon_outcomes.png">    </p:cNvPr>
          <p:cNvPicPr>
            <a:picLocks noChangeAspect="1"/>
          </p:cNvPicPr>
          <p:nvPr/>
        </p:nvPicPr>
        <p:blipFill>
          <a:blip r:embed="rId7"/>
          <a:stretch>
            <a:fillRect/>
          </a:stretch>
        </p:blipFill>
        <p:spPr>
          <a:xfrm>
            <a:off x="786384" y="5157216"/>
            <a:ext cx="548640" cy="548640"/>
          </a:xfrm>
          <a:prstGeom prst="rect">
            <a:avLst/>
          </a:prstGeom>
        </p:spPr>
      </p:pic>
      <p:sp>
        <p:nvSpPr>
          <p:cNvPr id="24" name="Text 15"/>
          <p:cNvSpPr/>
          <p:nvPr/>
        </p:nvSpPr>
        <p:spPr>
          <a:xfrm>
            <a:off x="1463040" y="5056632"/>
            <a:ext cx="4251960" cy="749808"/>
          </a:xfrm>
          <a:prstGeom prst="rect">
            <a:avLst/>
          </a:prstGeom>
          <a:noFill/>
          <a:ln/>
        </p:spPr>
        <p:txBody>
          <a:bodyPr wrap="square" rtlCol="0" anchor="ctr"/>
          <a:lstStyle/>
          <a:p>
            <a:pPr indent="0" marL="0">
              <a:lnSpc>
                <a:spcPct val="115000"/>
              </a:lnSpc>
              <a:buNone/>
            </a:pPr>
            <a:r>
              <a:rPr lang="en-US" sz="1150" dirty="0">
                <a:solidFill>
                  <a:srgbClr val="22273A"/>
                </a:solidFill>
                <a:latin typeface="Calibri" pitchFamily="34" charset="0"/>
                <a:ea typeface="Calibri" pitchFamily="34" charset="-122"/>
                <a:cs typeface="Calibri" pitchFamily="34" charset="-120"/>
              </a:rPr>
              <a:t>Understanding of automated cleaning &amp; reporting workflows</a:t>
            </a:r>
            <a:endParaRPr lang="en-US" sz="1150" dirty="0"/>
          </a:p>
        </p:txBody>
      </p:sp>
      <p:sp>
        <p:nvSpPr>
          <p:cNvPr id="25" name="Shape 16"/>
          <p:cNvSpPr/>
          <p:nvPr/>
        </p:nvSpPr>
        <p:spPr>
          <a:xfrm>
            <a:off x="6263640" y="4983480"/>
            <a:ext cx="5257800" cy="896112"/>
          </a:xfrm>
          <a:prstGeom prst="roundRect">
            <a:avLst>
              <a:gd name="adj" fmla="val 8163"/>
            </a:avLst>
          </a:prstGeom>
          <a:solidFill>
            <a:srgbClr val="F4F6FB"/>
          </a:solidFill>
          <a:ln/>
        </p:spPr>
      </p:sp>
      <p:pic>
        <p:nvPicPr>
          <p:cNvPr id="26" name="Image 7" descr="icon_outcomes.png">    </p:cNvPr>
          <p:cNvPicPr>
            <a:picLocks noChangeAspect="1"/>
          </p:cNvPicPr>
          <p:nvPr/>
        </p:nvPicPr>
        <p:blipFill>
          <a:blip r:embed="rId8"/>
          <a:stretch>
            <a:fillRect/>
          </a:stretch>
        </p:blipFill>
        <p:spPr>
          <a:xfrm>
            <a:off x="6409944" y="5157216"/>
            <a:ext cx="548640" cy="548640"/>
          </a:xfrm>
          <a:prstGeom prst="rect">
            <a:avLst/>
          </a:prstGeom>
        </p:spPr>
      </p:pic>
      <p:sp>
        <p:nvSpPr>
          <p:cNvPr id="27" name="Text 17"/>
          <p:cNvSpPr/>
          <p:nvPr/>
        </p:nvSpPr>
        <p:spPr>
          <a:xfrm>
            <a:off x="7086600" y="5056632"/>
            <a:ext cx="4251960" cy="749808"/>
          </a:xfrm>
          <a:prstGeom prst="rect">
            <a:avLst/>
          </a:prstGeom>
          <a:noFill/>
          <a:ln/>
        </p:spPr>
        <p:txBody>
          <a:bodyPr wrap="square" rtlCol="0" anchor="ctr"/>
          <a:lstStyle/>
          <a:p>
            <a:pPr indent="0" marL="0">
              <a:lnSpc>
                <a:spcPct val="115000"/>
              </a:lnSpc>
              <a:buNone/>
            </a:pPr>
            <a:r>
              <a:rPr lang="en-US" sz="1150" dirty="0">
                <a:solidFill>
                  <a:srgbClr val="22273A"/>
                </a:solidFill>
                <a:latin typeface="Calibri" pitchFamily="34" charset="0"/>
                <a:ea typeface="Calibri" pitchFamily="34" charset="-122"/>
                <a:cs typeface="Calibri" pitchFamily="34" charset="-120"/>
              </a:rPr>
              <a:t>Stronger analytical thinking &amp; business insight generation</a:t>
            </a:r>
            <a:endParaRPr lang="en-US" sz="1150" dirty="0"/>
          </a:p>
        </p:txBody>
      </p:sp>
      <p:sp>
        <p:nvSpPr>
          <p:cNvPr id="28" name="Text 18"/>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Thiranex Data Analytics Internship  •  Amit Kushwaha</a:t>
            </a:r>
            <a:endParaRPr lang="en-US" sz="900" dirty="0"/>
          </a:p>
        </p:txBody>
      </p:sp>
      <p:sp>
        <p:nvSpPr>
          <p:cNvPr id="29" name="Text 1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4.10</a:t>
            </a:r>
            <a:endParaRPr lang="en-US" sz="1300" dirty="0"/>
          </a:p>
        </p:txBody>
      </p:sp>
      <p:sp>
        <p:nvSpPr>
          <p:cNvPr id="3" name="Text 1"/>
          <p:cNvSpPr/>
          <p:nvPr/>
        </p:nvSpPr>
        <p:spPr>
          <a:xfrm>
            <a:off x="640080" y="713232"/>
            <a:ext cx="1051560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Task Completion Evidence</a:t>
            </a:r>
            <a:endParaRPr lang="en-US" sz="3000" dirty="0"/>
          </a:p>
        </p:txBody>
      </p:sp>
      <p:sp>
        <p:nvSpPr>
          <p:cNvPr id="4" name="Shape 2"/>
          <p:cNvSpPr/>
          <p:nvPr/>
        </p:nvSpPr>
        <p:spPr>
          <a:xfrm>
            <a:off x="640080" y="1645920"/>
            <a:ext cx="6675120" cy="4526280"/>
          </a:xfrm>
          <a:prstGeom prst="roundRect">
            <a:avLst>
              <a:gd name="adj" fmla="val 1616"/>
            </a:avLst>
          </a:prstGeom>
          <a:solidFill>
            <a:srgbClr val="FFFFFF"/>
          </a:solidFill>
          <a:ln w="12700">
            <a:solidFill>
              <a:srgbClr val="E3E7F0"/>
            </a:solidFill>
            <a:prstDash val="solid"/>
          </a:ln>
          <a:effectLst>
            <a:outerShdw sx="100000" sy="100000" kx="0" ky="0" algn="bl" rotWithShape="0" blurRad="76200" dist="25400" dir="5400000">
              <a:srgbClr val="9AA5C0">
                <a:alpha val="30000"/>
              </a:srgbClr>
            </a:outerShdw>
          </a:effectLst>
        </p:spPr>
      </p:sp>
      <p:pic>
        <p:nvPicPr>
          <p:cNvPr id="5" name="Image 0" descr="tasks123.png">    </p:cNvPr>
          <p:cNvPicPr>
            <a:picLocks noChangeAspect="1"/>
          </p:cNvPicPr>
          <p:nvPr/>
        </p:nvPicPr>
        <p:blipFill>
          <a:blip r:embed="rId1"/>
          <a:stretch>
            <a:fillRect/>
          </a:stretch>
        </p:blipFill>
        <p:spPr>
          <a:xfrm>
            <a:off x="822960" y="1828800"/>
            <a:ext cx="6309360" cy="4014216"/>
          </a:xfrm>
          <a:prstGeom prst="rect">
            <a:avLst/>
          </a:prstGeom>
        </p:spPr>
      </p:pic>
      <p:sp>
        <p:nvSpPr>
          <p:cNvPr id="6" name="Text 3"/>
          <p:cNvSpPr/>
          <p:nvPr/>
        </p:nvSpPr>
        <p:spPr>
          <a:xfrm>
            <a:off x="640080" y="5943600"/>
            <a:ext cx="6675120" cy="274320"/>
          </a:xfrm>
          <a:prstGeom prst="rect">
            <a:avLst/>
          </a:prstGeom>
          <a:noFill/>
          <a:ln/>
        </p:spPr>
        <p:txBody>
          <a:bodyPr wrap="square"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Fig 4.1 — Tasks 1–3 completed &amp; submitted on track</a:t>
            </a:r>
            <a:endParaRPr lang="en-US" sz="1000" dirty="0"/>
          </a:p>
        </p:txBody>
      </p:sp>
      <p:sp>
        <p:nvSpPr>
          <p:cNvPr id="7" name="Shape 4"/>
          <p:cNvSpPr/>
          <p:nvPr/>
        </p:nvSpPr>
        <p:spPr>
          <a:xfrm>
            <a:off x="7498080" y="1645920"/>
            <a:ext cx="4069080" cy="4526280"/>
          </a:xfrm>
          <a:prstGeom prst="roundRect">
            <a:avLst>
              <a:gd name="adj" fmla="val 1798"/>
            </a:avLst>
          </a:prstGeom>
          <a:solidFill>
            <a:srgbClr val="FFFFFF"/>
          </a:solidFill>
          <a:ln w="12700">
            <a:solidFill>
              <a:srgbClr val="E3E7F0"/>
            </a:solidFill>
            <a:prstDash val="solid"/>
          </a:ln>
          <a:effectLst>
            <a:outerShdw sx="100000" sy="100000" kx="0" ky="0" algn="bl" rotWithShape="0" blurRad="76200" dist="25400" dir="5400000">
              <a:srgbClr val="9AA5C0">
                <a:alpha val="30000"/>
              </a:srgbClr>
            </a:outerShdw>
          </a:effectLst>
        </p:spPr>
      </p:sp>
      <p:pic>
        <p:nvPicPr>
          <p:cNvPr id="8" name="Image 1" descr="task4.png">    </p:cNvPr>
          <p:cNvPicPr>
            <a:picLocks noChangeAspect="1"/>
          </p:cNvPicPr>
          <p:nvPr/>
        </p:nvPicPr>
        <p:blipFill>
          <a:blip r:embed="rId2"/>
          <a:stretch>
            <a:fillRect/>
          </a:stretch>
        </p:blipFill>
        <p:spPr>
          <a:xfrm>
            <a:off x="8549640" y="1828800"/>
            <a:ext cx="1965960" cy="3675888"/>
          </a:xfrm>
          <a:prstGeom prst="rect">
            <a:avLst/>
          </a:prstGeom>
        </p:spPr>
      </p:pic>
      <p:sp>
        <p:nvSpPr>
          <p:cNvPr id="9" name="Text 5"/>
          <p:cNvSpPr/>
          <p:nvPr/>
        </p:nvSpPr>
        <p:spPr>
          <a:xfrm>
            <a:off x="7498080" y="5943600"/>
            <a:ext cx="4069080" cy="274320"/>
          </a:xfrm>
          <a:prstGeom prst="rect">
            <a:avLst/>
          </a:prstGeom>
          <a:noFill/>
          <a:ln/>
        </p:spPr>
        <p:txBody>
          <a:bodyPr wrap="square"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Fig 4.2 — Task 4 completed &amp; submitted on track</a:t>
            </a:r>
            <a:endParaRPr lang="en-US" sz="1000" dirty="0"/>
          </a:p>
        </p:txBody>
      </p:sp>
      <p:sp>
        <p:nvSpPr>
          <p:cNvPr id="10" name="Text 6"/>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Thiranex Data Analytics Internship  •  Amit Kushwaha</a:t>
            </a:r>
            <a:endParaRPr lang="en-US" sz="900" dirty="0"/>
          </a:p>
        </p:txBody>
      </p:sp>
      <p:sp>
        <p:nvSpPr>
          <p:cNvPr id="11" name="Text 7"/>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141B4D"/>
          </a:solidFill>
          <a:ln/>
        </p:spPr>
      </p:sp>
      <p:pic>
        <p:nvPicPr>
          <p:cNvPr id="3" name="Image 0" descr="icon_biblio.png">    </p:cNvPr>
          <p:cNvPicPr>
            <a:picLocks noChangeAspect="1"/>
          </p:cNvPicPr>
          <p:nvPr/>
        </p:nvPicPr>
        <p:blipFill>
          <a:blip r:embed="rId1"/>
          <a:stretch>
            <a:fillRect/>
          </a:stretch>
        </p:blipFill>
        <p:spPr>
          <a:xfrm>
            <a:off x="640080" y="548640"/>
            <a:ext cx="594360" cy="594360"/>
          </a:xfrm>
          <a:prstGeom prst="rect">
            <a:avLst/>
          </a:prstGeom>
        </p:spPr>
      </p:pic>
      <p:sp>
        <p:nvSpPr>
          <p:cNvPr id="4" name="Text 1"/>
          <p:cNvSpPr/>
          <p:nvPr/>
        </p:nvSpPr>
        <p:spPr>
          <a:xfrm>
            <a:off x="1371600" y="621792"/>
            <a:ext cx="7315200" cy="36576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BIBLIOGRAPHY / REFERENCES</a:t>
            </a:r>
            <a:endParaRPr lang="en-US" sz="1300" dirty="0"/>
          </a:p>
        </p:txBody>
      </p:sp>
      <p:sp>
        <p:nvSpPr>
          <p:cNvPr id="5" name="Shape 2"/>
          <p:cNvSpPr/>
          <p:nvPr/>
        </p:nvSpPr>
        <p:spPr>
          <a:xfrm>
            <a:off x="640080" y="1399032"/>
            <a:ext cx="219456" cy="219456"/>
          </a:xfrm>
          <a:prstGeom prst="ellipse">
            <a:avLst/>
          </a:prstGeom>
          <a:solidFill>
            <a:srgbClr val="C9A24B"/>
          </a:solidFill>
          <a:ln/>
        </p:spPr>
      </p:sp>
      <p:sp>
        <p:nvSpPr>
          <p:cNvPr id="6" name="Text 3"/>
          <p:cNvSpPr/>
          <p:nvPr/>
        </p:nvSpPr>
        <p:spPr>
          <a:xfrm>
            <a:off x="640080" y="1380744"/>
            <a:ext cx="219456" cy="219456"/>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1</a:t>
            </a:r>
            <a:endParaRPr lang="en-US" sz="900" dirty="0"/>
          </a:p>
        </p:txBody>
      </p:sp>
      <p:sp>
        <p:nvSpPr>
          <p:cNvPr id="7" name="Text 4"/>
          <p:cNvSpPr/>
          <p:nvPr/>
        </p:nvSpPr>
        <p:spPr>
          <a:xfrm>
            <a:off x="1005840" y="1371600"/>
            <a:ext cx="10424160" cy="41148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Thiranex Internship Portal — Data Analytics Task Descriptions &amp; Completion Records</a:t>
            </a:r>
            <a:endParaRPr lang="en-US" sz="1200" dirty="0"/>
          </a:p>
        </p:txBody>
      </p:sp>
      <p:sp>
        <p:nvSpPr>
          <p:cNvPr id="8" name="Shape 5"/>
          <p:cNvSpPr/>
          <p:nvPr/>
        </p:nvSpPr>
        <p:spPr>
          <a:xfrm>
            <a:off x="640080" y="1901952"/>
            <a:ext cx="219456" cy="219456"/>
          </a:xfrm>
          <a:prstGeom prst="ellipse">
            <a:avLst/>
          </a:prstGeom>
          <a:solidFill>
            <a:srgbClr val="C9A24B"/>
          </a:solidFill>
          <a:ln/>
        </p:spPr>
      </p:sp>
      <p:sp>
        <p:nvSpPr>
          <p:cNvPr id="9" name="Text 6"/>
          <p:cNvSpPr/>
          <p:nvPr/>
        </p:nvSpPr>
        <p:spPr>
          <a:xfrm>
            <a:off x="640080" y="1883664"/>
            <a:ext cx="219456" cy="219456"/>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2</a:t>
            </a:r>
            <a:endParaRPr lang="en-US" sz="900" dirty="0"/>
          </a:p>
        </p:txBody>
      </p:sp>
      <p:sp>
        <p:nvSpPr>
          <p:cNvPr id="10" name="Text 7"/>
          <p:cNvSpPr/>
          <p:nvPr/>
        </p:nvSpPr>
        <p:spPr>
          <a:xfrm>
            <a:off x="1005840" y="1874520"/>
            <a:ext cx="10424160" cy="41148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Pandas Documentation — Python Data Analysis Library</a:t>
            </a:r>
            <a:endParaRPr lang="en-US" sz="1200" dirty="0"/>
          </a:p>
        </p:txBody>
      </p:sp>
      <p:sp>
        <p:nvSpPr>
          <p:cNvPr id="11" name="Shape 8"/>
          <p:cNvSpPr/>
          <p:nvPr/>
        </p:nvSpPr>
        <p:spPr>
          <a:xfrm>
            <a:off x="640080" y="2404872"/>
            <a:ext cx="219456" cy="219456"/>
          </a:xfrm>
          <a:prstGeom prst="ellipse">
            <a:avLst/>
          </a:prstGeom>
          <a:solidFill>
            <a:srgbClr val="C9A24B"/>
          </a:solidFill>
          <a:ln/>
        </p:spPr>
      </p:sp>
      <p:sp>
        <p:nvSpPr>
          <p:cNvPr id="12" name="Text 9"/>
          <p:cNvSpPr/>
          <p:nvPr/>
        </p:nvSpPr>
        <p:spPr>
          <a:xfrm>
            <a:off x="640080" y="2386584"/>
            <a:ext cx="219456" cy="219456"/>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3</a:t>
            </a:r>
            <a:endParaRPr lang="en-US" sz="900" dirty="0"/>
          </a:p>
        </p:txBody>
      </p:sp>
      <p:sp>
        <p:nvSpPr>
          <p:cNvPr id="13" name="Text 10"/>
          <p:cNvSpPr/>
          <p:nvPr/>
        </p:nvSpPr>
        <p:spPr>
          <a:xfrm>
            <a:off x="1005840" y="2377440"/>
            <a:ext cx="10424160" cy="41148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Matplotlib Documentation — Python Plotting Library</a:t>
            </a:r>
            <a:endParaRPr lang="en-US" sz="1200" dirty="0"/>
          </a:p>
        </p:txBody>
      </p:sp>
      <p:sp>
        <p:nvSpPr>
          <p:cNvPr id="14" name="Shape 11"/>
          <p:cNvSpPr/>
          <p:nvPr/>
        </p:nvSpPr>
        <p:spPr>
          <a:xfrm>
            <a:off x="640080" y="2907792"/>
            <a:ext cx="219456" cy="219456"/>
          </a:xfrm>
          <a:prstGeom prst="ellipse">
            <a:avLst/>
          </a:prstGeom>
          <a:solidFill>
            <a:srgbClr val="C9A24B"/>
          </a:solidFill>
          <a:ln/>
        </p:spPr>
      </p:sp>
      <p:sp>
        <p:nvSpPr>
          <p:cNvPr id="15" name="Text 12"/>
          <p:cNvSpPr/>
          <p:nvPr/>
        </p:nvSpPr>
        <p:spPr>
          <a:xfrm>
            <a:off x="640080" y="2889504"/>
            <a:ext cx="219456" cy="219456"/>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4</a:t>
            </a:r>
            <a:endParaRPr lang="en-US" sz="900" dirty="0"/>
          </a:p>
        </p:txBody>
      </p:sp>
      <p:sp>
        <p:nvSpPr>
          <p:cNvPr id="16" name="Text 13"/>
          <p:cNvSpPr/>
          <p:nvPr/>
        </p:nvSpPr>
        <p:spPr>
          <a:xfrm>
            <a:off x="1005840" y="2880360"/>
            <a:ext cx="10424160" cy="41148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Seaborn Documentation — Statistical Data Visualization Library</a:t>
            </a:r>
            <a:endParaRPr lang="en-US" sz="1200" dirty="0"/>
          </a:p>
        </p:txBody>
      </p:sp>
      <p:sp>
        <p:nvSpPr>
          <p:cNvPr id="17" name="Shape 14"/>
          <p:cNvSpPr/>
          <p:nvPr/>
        </p:nvSpPr>
        <p:spPr>
          <a:xfrm>
            <a:off x="640080" y="3410712"/>
            <a:ext cx="219456" cy="219456"/>
          </a:xfrm>
          <a:prstGeom prst="ellipse">
            <a:avLst/>
          </a:prstGeom>
          <a:solidFill>
            <a:srgbClr val="C9A24B"/>
          </a:solidFill>
          <a:ln/>
        </p:spPr>
      </p:sp>
      <p:sp>
        <p:nvSpPr>
          <p:cNvPr id="18" name="Text 15"/>
          <p:cNvSpPr/>
          <p:nvPr/>
        </p:nvSpPr>
        <p:spPr>
          <a:xfrm>
            <a:off x="640080" y="3392424"/>
            <a:ext cx="219456" cy="219456"/>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5</a:t>
            </a:r>
            <a:endParaRPr lang="en-US" sz="900" dirty="0"/>
          </a:p>
        </p:txBody>
      </p:sp>
      <p:sp>
        <p:nvSpPr>
          <p:cNvPr id="19" name="Text 16"/>
          <p:cNvSpPr/>
          <p:nvPr/>
        </p:nvSpPr>
        <p:spPr>
          <a:xfrm>
            <a:off x="1005840" y="3383280"/>
            <a:ext cx="10424160" cy="41148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Scikit-learn Documentation — Machine Learning in Python</a:t>
            </a:r>
            <a:endParaRPr lang="en-US" sz="1200" dirty="0"/>
          </a:p>
        </p:txBody>
      </p:sp>
      <p:sp>
        <p:nvSpPr>
          <p:cNvPr id="20" name="Shape 17"/>
          <p:cNvSpPr/>
          <p:nvPr/>
        </p:nvSpPr>
        <p:spPr>
          <a:xfrm>
            <a:off x="640080" y="4297680"/>
            <a:ext cx="10881360" cy="0"/>
          </a:xfrm>
          <a:prstGeom prst="line">
            <a:avLst/>
          </a:prstGeom>
          <a:noFill/>
          <a:ln w="12700">
            <a:solidFill>
              <a:srgbClr val="3B4680"/>
            </a:solidFill>
            <a:prstDash val="solid"/>
          </a:ln>
        </p:spPr>
      </p:sp>
      <p:sp>
        <p:nvSpPr>
          <p:cNvPr id="21" name="Text 18"/>
          <p:cNvSpPr/>
          <p:nvPr/>
        </p:nvSpPr>
        <p:spPr>
          <a:xfrm>
            <a:off x="640080" y="4572000"/>
            <a:ext cx="10881360" cy="73152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Thank You</a:t>
            </a:r>
            <a:endParaRPr lang="en-US" sz="3200" dirty="0"/>
          </a:p>
        </p:txBody>
      </p:sp>
      <p:sp>
        <p:nvSpPr>
          <p:cNvPr id="22" name="Text 19"/>
          <p:cNvSpPr/>
          <p:nvPr/>
        </p:nvSpPr>
        <p:spPr>
          <a:xfrm>
            <a:off x="640080" y="5349240"/>
            <a:ext cx="10881360" cy="457200"/>
          </a:xfrm>
          <a:prstGeom prst="rect">
            <a:avLst/>
          </a:prstGeom>
          <a:noFill/>
          <a:ln/>
        </p:spPr>
        <p:txBody>
          <a:bodyPr wrap="square" rtlCol="0" anchor="ctr"/>
          <a:lstStyle/>
          <a:p>
            <a:pPr algn="ctr" indent="0" marL="0">
              <a:buNone/>
            </a:pPr>
            <a:r>
              <a:rPr lang="en-US" sz="1300" dirty="0">
                <a:solidFill>
                  <a:srgbClr val="C9A24B"/>
                </a:solidFill>
                <a:latin typeface="Calibri" pitchFamily="34" charset="0"/>
                <a:ea typeface="Calibri" pitchFamily="34" charset="-122"/>
                <a:cs typeface="Calibri" pitchFamily="34" charset="-120"/>
              </a:rPr>
              <a:t>Amit Kushwaha  •  B.Tech CSE, IILM University  •  Thiranex Data Analytics Internship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2026-09-09T20:08:10Z</dcterms:created>
  <dcterms:modified xsi:type="dcterms:W3CDTF">2026-09-09T20:08:10Z</dcterms:modified>
</cp:coreProperties>
</file>